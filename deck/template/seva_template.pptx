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1.jpeg" ContentType="image/jpe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n-lt"/>
        <a:ea typeface="+mn-ea"/>
        <a:cs typeface="+mn-cs"/>
        <a:sym typeface="Arial"/>
      </a:defRPr>
    </a:lvl1pPr>
    <a:lvl2pPr indent="228600" latinLnBrk="0">
      <a:defRPr sz="1400">
        <a:latin typeface="+mn-lt"/>
        <a:ea typeface="+mn-ea"/>
        <a:cs typeface="+mn-cs"/>
        <a:sym typeface="Arial"/>
      </a:defRPr>
    </a:lvl2pPr>
    <a:lvl3pPr indent="457200" latinLnBrk="0">
      <a:defRPr sz="1400">
        <a:latin typeface="+mn-lt"/>
        <a:ea typeface="+mn-ea"/>
        <a:cs typeface="+mn-cs"/>
        <a:sym typeface="Arial"/>
      </a:defRPr>
    </a:lvl3pPr>
    <a:lvl4pPr indent="685800" latinLnBrk="0">
      <a:defRPr sz="1400">
        <a:latin typeface="+mn-lt"/>
        <a:ea typeface="+mn-ea"/>
        <a:cs typeface="+mn-cs"/>
        <a:sym typeface="Arial"/>
      </a:defRPr>
    </a:lvl4pPr>
    <a:lvl5pPr indent="914400" latinLnBrk="0">
      <a:defRPr sz="1400">
        <a:latin typeface="+mn-lt"/>
        <a:ea typeface="+mn-ea"/>
        <a:cs typeface="+mn-cs"/>
        <a:sym typeface="Arial"/>
      </a:defRPr>
    </a:lvl5pPr>
    <a:lvl6pPr indent="1143000" latinLnBrk="0">
      <a:defRPr sz="1400">
        <a:latin typeface="+mn-lt"/>
        <a:ea typeface="+mn-ea"/>
        <a:cs typeface="+mn-cs"/>
        <a:sym typeface="Arial"/>
      </a:defRPr>
    </a:lvl6pPr>
    <a:lvl7pPr indent="1371600" latinLnBrk="0">
      <a:defRPr sz="1400">
        <a:latin typeface="+mn-lt"/>
        <a:ea typeface="+mn-ea"/>
        <a:cs typeface="+mn-cs"/>
        <a:sym typeface="Arial"/>
      </a:defRPr>
    </a:lvl7pPr>
    <a:lvl8pPr indent="1600200" latinLnBrk="0">
      <a:defRPr sz="1400">
        <a:latin typeface="+mn-lt"/>
        <a:ea typeface="+mn-ea"/>
        <a:cs typeface="+mn-cs"/>
        <a:sym typeface="Arial"/>
      </a:defRPr>
    </a:lvl8pPr>
    <a:lvl9pPr indent="1828800" latinLnBrk="0">
      <a:defRPr sz="1400">
        <a:latin typeface="+mn-lt"/>
        <a:ea typeface="+mn-ea"/>
        <a:cs typeface="+mn-cs"/>
        <a:sym typeface="Arial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8" name="Shape 2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/>
            <a:r>
              <a:t>Title slide. Fill every field exactly as entered in the online application form so reviewers can match the deck to the application.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4" name="Shape 5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/>
            <a:r>
              <a:t>Reviewers look for a clearly defined, real and significant problem backed by evidence. One strong statistic is better than many weak ones. Cite the source for every number.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7" name="Shape 8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/>
            <a:r>
              <a:t>Show clearly how the solution addresses the problem on Slide 2. Compare against what exists today — reviewers score originality and relevance here.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0" name="Shape 12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/>
            <a:r>
              <a:t>Be realistic. A clear, costed plan with an identified adopting department scores better than an ambitious but vague one. Mention any validation already done (tests, user feedback, certifications).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hape 14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0" name="Shape 15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/>
            <a:r>
              <a:t>Quantify impact wherever possible and state your assumptions. Where relevant, link the solution to an existing Government scheme, mission or the Sustainable Development Goals.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Shape 19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8" name="Shape 19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/>
            <a:r>
              <a:t>List only active team members. Be specific about the support requested — it helps the organisers match you with the right mentor, department or incubator.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e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e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e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e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e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12;p1"/>
          <p:cNvSpPr txBox="1"/>
          <p:nvPr/>
        </p:nvSpPr>
        <p:spPr>
          <a:xfrm>
            <a:off x="457200" y="1298459"/>
            <a:ext cx="8229600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28C28"/>
                </a:solidFill>
              </a:defRPr>
            </a:lvl1pPr>
          </a:lstStyle>
          <a:p>
            <a:pPr/>
            <a:r>
              <a:t>SEVA INNOVATION CHALLENGE 2026  •  PITCH DECK TEMPLATE</a:t>
            </a:r>
          </a:p>
        </p:txBody>
      </p:sp>
      <p:sp>
        <p:nvSpPr>
          <p:cNvPr id="21" name="Google Shape;13;p1"/>
          <p:cNvSpPr txBox="1"/>
          <p:nvPr/>
        </p:nvSpPr>
        <p:spPr>
          <a:xfrm>
            <a:off x="457199" y="1664219"/>
            <a:ext cx="5212202" cy="394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800">
                <a:solidFill>
                  <a:srgbClr val="FFFFFF"/>
                </a:solidFill>
              </a:defRPr>
            </a:lvl1pPr>
          </a:lstStyle>
          <a:p>
            <a:pPr/>
            <a:r>
              <a:t>[Name of Your Innovation]</a:t>
            </a:r>
          </a:p>
        </p:txBody>
      </p:sp>
      <p:sp>
        <p:nvSpPr>
          <p:cNvPr id="22" name="Google Shape;14;p1"/>
          <p:cNvSpPr txBox="1"/>
          <p:nvPr/>
        </p:nvSpPr>
        <p:spPr>
          <a:xfrm>
            <a:off x="457199" y="2715779"/>
            <a:ext cx="4937702" cy="3506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1200">
                <a:solidFill>
                  <a:srgbClr val="C9D2EC"/>
                </a:solidFill>
              </a:defRPr>
            </a:lvl1pPr>
          </a:lstStyle>
          <a:p>
            <a:pPr/>
            <a:r>
              <a:t>[One line: what it does, for whom — e.g. "A low-cost sensor that warns farmers of pest attack 5 days in advance"]</a:t>
            </a:r>
          </a:p>
        </p:txBody>
      </p:sp>
      <p:sp>
        <p:nvSpPr>
          <p:cNvPr id="23" name="Google Shape;15;p1"/>
          <p:cNvSpPr/>
          <p:nvPr/>
        </p:nvSpPr>
        <p:spPr>
          <a:xfrm>
            <a:off x="5852159" y="777240"/>
            <a:ext cx="2834641" cy="3108961"/>
          </a:xfrm>
          <a:prstGeom prst="roundRect">
            <a:avLst>
              <a:gd name="adj" fmla="val 3226"/>
            </a:avLst>
          </a:prstGeom>
          <a:solidFill>
            <a:srgbClr val="253870"/>
          </a:solidFill>
          <a:ln w="12700">
            <a:solidFill>
              <a:srgbClr val="253870"/>
            </a:solidFill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4" name="Google Shape;16;p1"/>
          <p:cNvSpPr txBox="1"/>
          <p:nvPr/>
        </p:nvSpPr>
        <p:spPr>
          <a:xfrm>
            <a:off x="6035040" y="914400"/>
            <a:ext cx="2468881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F28C28"/>
                </a:solidFill>
              </a:defRPr>
            </a:lvl1pPr>
          </a:lstStyle>
          <a:p>
            <a:pPr/>
            <a:r>
              <a:t>How to use this template</a:t>
            </a:r>
          </a:p>
        </p:txBody>
      </p:sp>
      <p:sp>
        <p:nvSpPr>
          <p:cNvPr id="25" name="Google Shape;17;p1"/>
          <p:cNvSpPr txBox="1"/>
          <p:nvPr/>
        </p:nvSpPr>
        <p:spPr>
          <a:xfrm>
            <a:off x="6035040" y="1298447"/>
            <a:ext cx="2514601" cy="17484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buClr>
                <a:srgbClr val="FFFFFF"/>
              </a:buClr>
              <a:buSzPts val="1000"/>
              <a:buFont typeface="Arial"/>
              <a:buChar char="•"/>
              <a:defRPr b="1" sz="1000">
                <a:solidFill>
                  <a:srgbClr val="FFFFFF"/>
                </a:solidFill>
              </a:defRPr>
            </a:pPr>
            <a:r>
              <a:t>Keep to 6 slides, in this order.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spcBef>
                <a:spcPts val="700"/>
              </a:spcBef>
              <a:buClr>
                <a:srgbClr val="FFFFFF"/>
              </a:buClr>
              <a:buSzPts val="1000"/>
              <a:buFont typeface="Arial"/>
              <a:buChar char="•"/>
              <a:defRPr b="1" sz="1000">
                <a:solidFill>
                  <a:srgbClr val="FFFFFF"/>
                </a:solidFill>
              </a:defRPr>
            </a:pPr>
            <a:r>
              <a:t>Replace all grey [bracketed] text with your own content; delete guidance boxes.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spcBef>
                <a:spcPts val="700"/>
              </a:spcBef>
              <a:buClr>
                <a:srgbClr val="FFFFFF"/>
              </a:buClr>
              <a:buSzPts val="1000"/>
              <a:buFont typeface="Arial"/>
              <a:buChar char="•"/>
              <a:defRPr b="1" sz="1000">
                <a:solidFill>
                  <a:srgbClr val="FFFFFF"/>
                </a:solidFill>
              </a:defRPr>
            </a:pPr>
            <a:r>
              <a:t>Use simple language, facts and numbers with sources.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spcBef>
                <a:spcPts val="700"/>
              </a:spcBef>
              <a:buClr>
                <a:srgbClr val="FFFFFF"/>
              </a:buClr>
              <a:buSzPts val="1000"/>
              <a:buFont typeface="Arial"/>
              <a:buChar char="•"/>
              <a:defRPr b="1" sz="1000">
                <a:solidFill>
                  <a:srgbClr val="FFFFFF"/>
                </a:solidFill>
              </a:defRPr>
            </a:pPr>
            <a:r>
              <a:t>Add photos of your prototype or field visits wherever possible.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spcBef>
                <a:spcPts val="700"/>
              </a:spcBef>
              <a:buClr>
                <a:srgbClr val="FFFFFF"/>
              </a:buClr>
              <a:buSzPts val="1000"/>
              <a:buFont typeface="Arial"/>
              <a:buChar char="•"/>
              <a:defRPr b="1" sz="1000">
                <a:solidFill>
                  <a:srgbClr val="FFFFFF"/>
                </a:solidFill>
              </a:defRPr>
            </a:pPr>
            <a:r>
              <a:t>Save as PDF (max 10 MB) before uploading.</a:t>
            </a:r>
          </a:p>
        </p:txBody>
      </p:sp>
      <p:pic>
        <p:nvPicPr>
          <p:cNvPr id="26" name="atlas-sleep.jpgGoogle Shape;18;p1" descr="atlas-sleep.jpgGoogle Shape;18;p1"/>
          <p:cNvPicPr>
            <a:picLocks noChangeAspect="1"/>
          </p:cNvPicPr>
          <p:nvPr/>
        </p:nvPicPr>
        <p:blipFill>
          <a:blip r:embed="rId3">
            <a:extLst/>
          </a:blip>
          <a:srcRect l="516" t="2144" r="74080" b="2135"/>
          <a:stretch>
            <a:fillRect/>
          </a:stretch>
        </p:blipFill>
        <p:spPr>
          <a:xfrm>
            <a:off x="457199" y="292350"/>
            <a:ext cx="1806117" cy="8307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24;p2"/>
          <p:cNvSpPr/>
          <p:nvPr/>
        </p:nvSpPr>
        <p:spPr>
          <a:xfrm>
            <a:off x="457200" y="347471"/>
            <a:ext cx="502921" cy="502922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1" name="Google Shape;25;p2"/>
          <p:cNvSpPr txBox="1"/>
          <p:nvPr/>
        </p:nvSpPr>
        <p:spPr>
          <a:xfrm>
            <a:off x="457200" y="494097"/>
            <a:ext cx="502920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2" name="Google Shape;26;p2"/>
          <p:cNvSpPr txBox="1"/>
          <p:nvPr/>
        </p:nvSpPr>
        <p:spPr>
          <a:xfrm>
            <a:off x="1097280" y="301752"/>
            <a:ext cx="6858001" cy="3828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600">
                <a:solidFill>
                  <a:srgbClr val="1B2A5C"/>
                </a:solidFill>
              </a:defRPr>
            </a:lvl1pPr>
          </a:lstStyle>
          <a:p>
            <a:pPr/>
            <a:r>
              <a:t>The Problem</a:t>
            </a:r>
          </a:p>
        </p:txBody>
      </p:sp>
      <p:sp>
        <p:nvSpPr>
          <p:cNvPr id="33" name="Google Shape;27;p2"/>
          <p:cNvSpPr txBox="1"/>
          <p:nvPr/>
        </p:nvSpPr>
        <p:spPr>
          <a:xfrm>
            <a:off x="1097280" y="713231"/>
            <a:ext cx="7589519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1100">
                <a:solidFill>
                  <a:srgbClr val="6B7280"/>
                </a:solidFill>
              </a:defRPr>
            </a:lvl1pPr>
          </a:lstStyle>
          <a:p>
            <a:pPr/>
            <a:r>
              <a:t>What real challenge in society, government service or industry are you solving?</a:t>
            </a:r>
          </a:p>
        </p:txBody>
      </p:sp>
      <p:sp>
        <p:nvSpPr>
          <p:cNvPr id="34" name="Google Shape;28;p2"/>
          <p:cNvSpPr txBox="1"/>
          <p:nvPr/>
        </p:nvSpPr>
        <p:spPr>
          <a:xfrm>
            <a:off x="5486400" y="4846320"/>
            <a:ext cx="32004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800">
                <a:solidFill>
                  <a:srgbClr val="6B7280"/>
                </a:solidFill>
              </a:defRPr>
            </a:lvl1pPr>
          </a:lstStyle>
          <a:p>
            <a:pPr/>
            <a:r>
              <a:t>Seva Innovation Challenge 2026  |  Slide 2 of 6</a:t>
            </a:r>
          </a:p>
        </p:txBody>
      </p:sp>
      <p:sp>
        <p:nvSpPr>
          <p:cNvPr id="35" name="Google Shape;29;p2"/>
          <p:cNvSpPr/>
          <p:nvPr/>
        </p:nvSpPr>
        <p:spPr>
          <a:xfrm>
            <a:off x="457200" y="1188719"/>
            <a:ext cx="2743200" cy="1600201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>
            <a:solidFill>
              <a:srgbClr val="D9DEEA"/>
            </a:solidFill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6" name="Google Shape;30;p2"/>
          <p:cNvSpPr txBox="1"/>
          <p:nvPr/>
        </p:nvSpPr>
        <p:spPr>
          <a:xfrm>
            <a:off x="594359" y="1298447"/>
            <a:ext cx="246888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B2A5C"/>
                </a:solidFill>
              </a:defRPr>
            </a:lvl1pPr>
          </a:lstStyle>
          <a:p>
            <a:pPr/>
            <a:r>
              <a:t>What is the problem?</a:t>
            </a:r>
          </a:p>
        </p:txBody>
      </p:sp>
      <p:sp>
        <p:nvSpPr>
          <p:cNvPr id="37" name="Google Shape;31;p2"/>
          <p:cNvSpPr txBox="1"/>
          <p:nvPr/>
        </p:nvSpPr>
        <p:spPr>
          <a:xfrm>
            <a:off x="594359" y="1572767"/>
            <a:ext cx="2468882" cy="4149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1000">
                <a:solidFill>
                  <a:srgbClr val="6B7280"/>
                </a:solidFill>
              </a:defRPr>
            </a:lvl1pPr>
          </a:lstStyle>
          <a:p>
            <a:pPr/>
            <a:r>
              <a:t>Describe the problem in 2–3 simple sentences. Focus on the root cause, not just the symptom.</a:t>
            </a:r>
          </a:p>
        </p:txBody>
      </p:sp>
      <p:sp>
        <p:nvSpPr>
          <p:cNvPr id="38" name="Google Shape;32;p2"/>
          <p:cNvSpPr/>
          <p:nvPr/>
        </p:nvSpPr>
        <p:spPr>
          <a:xfrm>
            <a:off x="3383279" y="1188719"/>
            <a:ext cx="2743201" cy="1600201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>
            <a:solidFill>
              <a:srgbClr val="D9DEEA"/>
            </a:solidFill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" name="Google Shape;33;p2"/>
          <p:cNvSpPr txBox="1"/>
          <p:nvPr/>
        </p:nvSpPr>
        <p:spPr>
          <a:xfrm>
            <a:off x="3520440" y="1298447"/>
            <a:ext cx="246888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B2A5C"/>
                </a:solidFill>
              </a:defRPr>
            </a:lvl1pPr>
          </a:lstStyle>
          <a:p>
            <a:pPr/>
            <a:r>
              <a:t>Who is affected, and where?</a:t>
            </a:r>
          </a:p>
        </p:txBody>
      </p:sp>
      <p:sp>
        <p:nvSpPr>
          <p:cNvPr id="40" name="Google Shape;34;p2"/>
          <p:cNvSpPr txBox="1"/>
          <p:nvPr/>
        </p:nvSpPr>
        <p:spPr>
          <a:xfrm>
            <a:off x="3520440" y="1572767"/>
            <a:ext cx="2468881" cy="4149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1000">
                <a:solidFill>
                  <a:srgbClr val="6B7280"/>
                </a:solidFill>
              </a:defRPr>
            </a:lvl1pPr>
          </a:lstStyle>
          <a:p>
            <a:pPr/>
            <a:r>
              <a:t>Name the people, community, department or industry facing it; mention the location (village, city, district).</a:t>
            </a:r>
          </a:p>
        </p:txBody>
      </p:sp>
      <p:sp>
        <p:nvSpPr>
          <p:cNvPr id="41" name="Google Shape;35;p2"/>
          <p:cNvSpPr/>
          <p:nvPr/>
        </p:nvSpPr>
        <p:spPr>
          <a:xfrm>
            <a:off x="457200" y="2971800"/>
            <a:ext cx="2743200" cy="1645921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>
            <a:solidFill>
              <a:srgbClr val="D9DEEA"/>
            </a:solidFill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" name="Google Shape;36;p2"/>
          <p:cNvSpPr txBox="1"/>
          <p:nvPr/>
        </p:nvSpPr>
        <p:spPr>
          <a:xfrm>
            <a:off x="594359" y="3081527"/>
            <a:ext cx="246888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B2A5C"/>
                </a:solidFill>
              </a:defRPr>
            </a:lvl1pPr>
          </a:lstStyle>
          <a:p>
            <a:pPr/>
            <a:r>
              <a:t>Evidence</a:t>
            </a:r>
          </a:p>
        </p:txBody>
      </p:sp>
      <p:sp>
        <p:nvSpPr>
          <p:cNvPr id="43" name="Google Shape;37;p2"/>
          <p:cNvSpPr txBox="1"/>
          <p:nvPr/>
        </p:nvSpPr>
        <p:spPr>
          <a:xfrm>
            <a:off x="594359" y="3355847"/>
            <a:ext cx="2468882" cy="5546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1000">
                <a:solidFill>
                  <a:srgbClr val="6B7280"/>
                </a:solidFill>
              </a:defRPr>
            </a:lvl1pPr>
          </a:lstStyle>
          <a:p>
            <a:pPr/>
            <a:r>
              <a:t>Give data from credible sources — Census, NFHS, government reports, departmental records, or your own survey (sample size and date).</a:t>
            </a:r>
          </a:p>
        </p:txBody>
      </p:sp>
      <p:sp>
        <p:nvSpPr>
          <p:cNvPr id="44" name="Google Shape;38;p2"/>
          <p:cNvSpPr/>
          <p:nvPr/>
        </p:nvSpPr>
        <p:spPr>
          <a:xfrm>
            <a:off x="3383279" y="2971800"/>
            <a:ext cx="2743201" cy="1645921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>
            <a:solidFill>
              <a:srgbClr val="D9DEEA"/>
            </a:solidFill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5" name="Google Shape;39;p2"/>
          <p:cNvSpPr txBox="1"/>
          <p:nvPr/>
        </p:nvSpPr>
        <p:spPr>
          <a:xfrm>
            <a:off x="3520440" y="3081527"/>
            <a:ext cx="246888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B2A5C"/>
                </a:solidFill>
              </a:defRPr>
            </a:lvl1pPr>
          </a:lstStyle>
          <a:p>
            <a:pPr/>
            <a:r>
              <a:t>Current gaps</a:t>
            </a:r>
          </a:p>
        </p:txBody>
      </p:sp>
      <p:sp>
        <p:nvSpPr>
          <p:cNvPr id="46" name="Google Shape;40;p2"/>
          <p:cNvSpPr txBox="1"/>
          <p:nvPr/>
        </p:nvSpPr>
        <p:spPr>
          <a:xfrm>
            <a:off x="3520440" y="3355847"/>
            <a:ext cx="2468881" cy="2752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1000">
                <a:solidFill>
                  <a:srgbClr val="6B7280"/>
                </a:solidFill>
              </a:defRPr>
            </a:lvl1pPr>
          </a:lstStyle>
          <a:p>
            <a:pPr/>
            <a:r>
              <a:t>What is being done today and why it is not enough (cost, reach, speed, quality)?</a:t>
            </a:r>
          </a:p>
        </p:txBody>
      </p:sp>
      <p:sp>
        <p:nvSpPr>
          <p:cNvPr id="47" name="Google Shape;41;p2"/>
          <p:cNvSpPr/>
          <p:nvPr/>
        </p:nvSpPr>
        <p:spPr>
          <a:xfrm>
            <a:off x="6309359" y="1188719"/>
            <a:ext cx="2377441" cy="3429001"/>
          </a:xfrm>
          <a:prstGeom prst="roundRect">
            <a:avLst>
              <a:gd name="adj" fmla="val 3846"/>
            </a:avLst>
          </a:prstGeom>
          <a:solidFill>
            <a:srgbClr val="1B2A5C"/>
          </a:solidFill>
          <a:ln w="12700">
            <a:solidFill>
              <a:srgbClr val="1B2A5C"/>
            </a:solidFill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8" name="Google Shape;42;p2"/>
          <p:cNvSpPr txBox="1"/>
          <p:nvPr/>
        </p:nvSpPr>
        <p:spPr>
          <a:xfrm>
            <a:off x="6400800" y="1508760"/>
            <a:ext cx="2194561" cy="345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F28C28"/>
                </a:solidFill>
              </a:defRPr>
            </a:lvl1pPr>
          </a:lstStyle>
          <a:p>
            <a:pPr/>
            <a:r>
              <a:t>[X (number)]</a:t>
            </a:r>
          </a:p>
        </p:txBody>
      </p:sp>
      <p:sp>
        <p:nvSpPr>
          <p:cNvPr id="49" name="Google Shape;43;p2"/>
          <p:cNvSpPr txBox="1"/>
          <p:nvPr/>
        </p:nvSpPr>
        <p:spPr>
          <a:xfrm>
            <a:off x="6492240" y="2286000"/>
            <a:ext cx="2011680" cy="4149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i="1" sz="1000">
                <a:solidFill>
                  <a:srgbClr val="FFFFFF"/>
                </a:solidFill>
              </a:defRPr>
            </a:lvl1pPr>
          </a:lstStyle>
          <a:p>
            <a:pPr/>
            <a:r>
              <a:t>[people / farmers / students affected every year in the target area]</a:t>
            </a:r>
          </a:p>
        </p:txBody>
      </p:sp>
      <p:sp>
        <p:nvSpPr>
          <p:cNvPr id="50" name="Google Shape;44;p2"/>
          <p:cNvSpPr txBox="1"/>
          <p:nvPr/>
        </p:nvSpPr>
        <p:spPr>
          <a:xfrm>
            <a:off x="6492240" y="3108960"/>
            <a:ext cx="2011680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F28C28"/>
                </a:solidFill>
              </a:defRPr>
            </a:lvl1pPr>
          </a:lstStyle>
          <a:p>
            <a:pPr/>
            <a:r>
              <a:t>Why it matters</a:t>
            </a:r>
          </a:p>
        </p:txBody>
      </p:sp>
      <p:sp>
        <p:nvSpPr>
          <p:cNvPr id="51" name="Google Shape;45;p2"/>
          <p:cNvSpPr txBox="1"/>
          <p:nvPr/>
        </p:nvSpPr>
        <p:spPr>
          <a:xfrm>
            <a:off x="6492240" y="3383279"/>
            <a:ext cx="2011680" cy="2752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i="1" sz="1000">
                <a:solidFill>
                  <a:srgbClr val="C9D2EC"/>
                </a:solidFill>
              </a:defRPr>
            </a:lvl1pPr>
          </a:lstStyle>
          <a:p>
            <a:pPr/>
            <a:r>
              <a:t>[One line on the cost of inaction — lives, money, time or environment]</a:t>
            </a:r>
          </a:p>
        </p:txBody>
      </p:sp>
      <p:pic>
        <p:nvPicPr>
          <p:cNvPr id="52" name="atlas-sleep.jpgGoogle Shape;46;p2" descr="atlas-sleep.jpgGoogle Shape;46;p2"/>
          <p:cNvPicPr>
            <a:picLocks noChangeAspect="1"/>
          </p:cNvPicPr>
          <p:nvPr/>
        </p:nvPicPr>
        <p:blipFill>
          <a:blip r:embed="rId3">
            <a:extLst/>
          </a:blip>
          <a:srcRect l="516" t="2144" r="74080" b="2135"/>
          <a:stretch>
            <a:fillRect/>
          </a:stretch>
        </p:blipFill>
        <p:spPr>
          <a:xfrm>
            <a:off x="7429296" y="301737"/>
            <a:ext cx="1166050" cy="53630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2;p3"/>
          <p:cNvSpPr/>
          <p:nvPr/>
        </p:nvSpPr>
        <p:spPr>
          <a:xfrm>
            <a:off x="457200" y="347471"/>
            <a:ext cx="502921" cy="502922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7" name="Google Shape;53;p3"/>
          <p:cNvSpPr txBox="1"/>
          <p:nvPr/>
        </p:nvSpPr>
        <p:spPr>
          <a:xfrm>
            <a:off x="457200" y="494097"/>
            <a:ext cx="502920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58" name="Google Shape;54;p3"/>
          <p:cNvSpPr txBox="1"/>
          <p:nvPr/>
        </p:nvSpPr>
        <p:spPr>
          <a:xfrm>
            <a:off x="1097280" y="301752"/>
            <a:ext cx="6858001" cy="3828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600">
                <a:solidFill>
                  <a:srgbClr val="1B2A5C"/>
                </a:solidFill>
              </a:defRPr>
            </a:lvl1pPr>
          </a:lstStyle>
          <a:p>
            <a:pPr/>
            <a:r>
              <a:t>Our Solution &amp; Innovation</a:t>
            </a:r>
          </a:p>
        </p:txBody>
      </p:sp>
      <p:sp>
        <p:nvSpPr>
          <p:cNvPr id="59" name="Google Shape;55;p3"/>
          <p:cNvSpPr txBox="1"/>
          <p:nvPr/>
        </p:nvSpPr>
        <p:spPr>
          <a:xfrm>
            <a:off x="1097280" y="713231"/>
            <a:ext cx="7589519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1100">
                <a:solidFill>
                  <a:srgbClr val="6B7280"/>
                </a:solidFill>
              </a:defRPr>
            </a:lvl1pPr>
          </a:lstStyle>
          <a:p>
            <a:pPr/>
            <a:r>
              <a:t>What have you built or designed, how does it work, and what is new about it?</a:t>
            </a:r>
          </a:p>
        </p:txBody>
      </p:sp>
      <p:sp>
        <p:nvSpPr>
          <p:cNvPr id="60" name="Google Shape;56;p3"/>
          <p:cNvSpPr txBox="1"/>
          <p:nvPr/>
        </p:nvSpPr>
        <p:spPr>
          <a:xfrm>
            <a:off x="5486400" y="4846320"/>
            <a:ext cx="32004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800">
                <a:solidFill>
                  <a:srgbClr val="6B7280"/>
                </a:solidFill>
              </a:defRPr>
            </a:lvl1pPr>
          </a:lstStyle>
          <a:p>
            <a:pPr/>
            <a:r>
              <a:t>Seva Innovation Challenge 2026  |  Slide 3 of 6</a:t>
            </a:r>
          </a:p>
        </p:txBody>
      </p:sp>
      <p:sp>
        <p:nvSpPr>
          <p:cNvPr id="61" name="Google Shape;57;p3"/>
          <p:cNvSpPr txBox="1"/>
          <p:nvPr/>
        </p:nvSpPr>
        <p:spPr>
          <a:xfrm>
            <a:off x="457199" y="1188719"/>
            <a:ext cx="3931922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1B2A5C"/>
                </a:solidFill>
              </a:defRPr>
            </a:lvl1pPr>
          </a:lstStyle>
          <a:p>
            <a:pPr/>
            <a:r>
              <a:t>Our solution in brief</a:t>
            </a:r>
          </a:p>
        </p:txBody>
      </p:sp>
      <p:sp>
        <p:nvSpPr>
          <p:cNvPr id="62" name="Google Shape;58;p3"/>
          <p:cNvSpPr txBox="1"/>
          <p:nvPr/>
        </p:nvSpPr>
        <p:spPr>
          <a:xfrm>
            <a:off x="457199" y="1481327"/>
            <a:ext cx="3931922" cy="4149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1000">
                <a:solidFill>
                  <a:srgbClr val="6B7280"/>
                </a:solidFill>
              </a:defRPr>
            </a:lvl1pPr>
          </a:lstStyle>
          <a:p>
            <a:pPr/>
            <a:r>
              <a:t>[Explain the product, service, process or technology in 3–4 lines. Add a photo, sketch or screenshot of the prototype on the right of this text if available.]</a:t>
            </a:r>
          </a:p>
        </p:txBody>
      </p:sp>
      <p:sp>
        <p:nvSpPr>
          <p:cNvPr id="63" name="Google Shape;59;p3"/>
          <p:cNvSpPr txBox="1"/>
          <p:nvPr/>
        </p:nvSpPr>
        <p:spPr>
          <a:xfrm>
            <a:off x="457199" y="2377439"/>
            <a:ext cx="3931922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1B2A5C"/>
                </a:solidFill>
              </a:defRPr>
            </a:lvl1pPr>
          </a:lstStyle>
          <a:p>
            <a:pPr/>
            <a:r>
              <a:t>How it works</a:t>
            </a:r>
          </a:p>
        </p:txBody>
      </p:sp>
      <p:sp>
        <p:nvSpPr>
          <p:cNvPr id="64" name="Google Shape;60;p3"/>
          <p:cNvSpPr/>
          <p:nvPr/>
        </p:nvSpPr>
        <p:spPr>
          <a:xfrm>
            <a:off x="457200" y="2724911"/>
            <a:ext cx="1170433" cy="1783081"/>
          </a:xfrm>
          <a:prstGeom prst="roundRect">
            <a:avLst>
              <a:gd name="adj" fmla="val 6250"/>
            </a:avLst>
          </a:prstGeom>
          <a:solidFill>
            <a:srgbClr val="FDEBD7"/>
          </a:solidFill>
          <a:ln>
            <a:solidFill>
              <a:srgbClr val="D9DEEA"/>
            </a:solidFill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5" name="Google Shape;61;p3"/>
          <p:cNvSpPr/>
          <p:nvPr/>
        </p:nvSpPr>
        <p:spPr>
          <a:xfrm>
            <a:off x="859536" y="2834639"/>
            <a:ext cx="365761" cy="365761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6" name="Google Shape;62;p3"/>
          <p:cNvSpPr txBox="1"/>
          <p:nvPr/>
        </p:nvSpPr>
        <p:spPr>
          <a:xfrm>
            <a:off x="859536" y="2943605"/>
            <a:ext cx="365761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67" name="Google Shape;63;p3"/>
          <p:cNvSpPr txBox="1"/>
          <p:nvPr/>
        </p:nvSpPr>
        <p:spPr>
          <a:xfrm>
            <a:off x="530351" y="3273552"/>
            <a:ext cx="1024129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B2A5C"/>
                </a:solidFill>
              </a:defRPr>
            </a:lvl1pPr>
          </a:lstStyle>
          <a:p>
            <a:pPr/>
            <a:r>
              <a:t>Input</a:t>
            </a:r>
          </a:p>
        </p:txBody>
      </p:sp>
      <p:sp>
        <p:nvSpPr>
          <p:cNvPr id="68" name="Google Shape;64;p3"/>
          <p:cNvSpPr txBox="1"/>
          <p:nvPr/>
        </p:nvSpPr>
        <p:spPr>
          <a:xfrm>
            <a:off x="548640" y="3566159"/>
            <a:ext cx="987553" cy="250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i="1" sz="900">
                <a:solidFill>
                  <a:srgbClr val="6B7280"/>
                </a:solidFill>
              </a:defRPr>
            </a:lvl1pPr>
          </a:lstStyle>
          <a:p>
            <a:pPr/>
            <a:r>
              <a:t>[What goes in / who uses it]</a:t>
            </a:r>
          </a:p>
        </p:txBody>
      </p:sp>
      <p:sp>
        <p:nvSpPr>
          <p:cNvPr id="69" name="Google Shape;65;p3"/>
          <p:cNvSpPr txBox="1"/>
          <p:nvPr/>
        </p:nvSpPr>
        <p:spPr>
          <a:xfrm>
            <a:off x="1627632" y="3291840"/>
            <a:ext cx="201169" cy="32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200">
                <a:solidFill>
                  <a:srgbClr val="F28C28"/>
                </a:solidFill>
              </a:defRPr>
            </a:lvl1pPr>
          </a:lstStyle>
          <a:p>
            <a:pPr/>
            <a:r>
              <a:t>›</a:t>
            </a:r>
          </a:p>
        </p:txBody>
      </p:sp>
      <p:sp>
        <p:nvSpPr>
          <p:cNvPr id="70" name="Google Shape;66;p3"/>
          <p:cNvSpPr/>
          <p:nvPr/>
        </p:nvSpPr>
        <p:spPr>
          <a:xfrm>
            <a:off x="1828800" y="2724911"/>
            <a:ext cx="1170433" cy="1783081"/>
          </a:xfrm>
          <a:prstGeom prst="roundRect">
            <a:avLst>
              <a:gd name="adj" fmla="val 6250"/>
            </a:avLst>
          </a:prstGeom>
          <a:solidFill>
            <a:srgbClr val="FDEBD7"/>
          </a:solidFill>
          <a:ln>
            <a:solidFill>
              <a:srgbClr val="D9DEEA"/>
            </a:solidFill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1" name="Google Shape;67;p3"/>
          <p:cNvSpPr/>
          <p:nvPr/>
        </p:nvSpPr>
        <p:spPr>
          <a:xfrm>
            <a:off x="2231135" y="2834639"/>
            <a:ext cx="365761" cy="365761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2" name="Google Shape;68;p3"/>
          <p:cNvSpPr txBox="1"/>
          <p:nvPr/>
        </p:nvSpPr>
        <p:spPr>
          <a:xfrm>
            <a:off x="2231135" y="2943605"/>
            <a:ext cx="365761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73" name="Google Shape;69;p3"/>
          <p:cNvSpPr txBox="1"/>
          <p:nvPr/>
        </p:nvSpPr>
        <p:spPr>
          <a:xfrm>
            <a:off x="1901951" y="3273552"/>
            <a:ext cx="1024129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B2A5C"/>
                </a:solidFill>
              </a:defRPr>
            </a:lvl1pPr>
          </a:lstStyle>
          <a:p>
            <a:pPr/>
            <a:r>
              <a:t>Process</a:t>
            </a:r>
          </a:p>
        </p:txBody>
      </p:sp>
      <p:sp>
        <p:nvSpPr>
          <p:cNvPr id="74" name="Google Shape;70;p3"/>
          <p:cNvSpPr txBox="1"/>
          <p:nvPr/>
        </p:nvSpPr>
        <p:spPr>
          <a:xfrm>
            <a:off x="1920239" y="3566159"/>
            <a:ext cx="987553" cy="250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i="1" sz="900">
                <a:solidFill>
                  <a:srgbClr val="6B7280"/>
                </a:solidFill>
              </a:defRPr>
            </a:lvl1pPr>
          </a:lstStyle>
          <a:p>
            <a:pPr/>
            <a:r>
              <a:t>[What the solution does]</a:t>
            </a:r>
          </a:p>
        </p:txBody>
      </p:sp>
      <p:sp>
        <p:nvSpPr>
          <p:cNvPr id="75" name="Google Shape;71;p3"/>
          <p:cNvSpPr txBox="1"/>
          <p:nvPr/>
        </p:nvSpPr>
        <p:spPr>
          <a:xfrm>
            <a:off x="2999232" y="3291840"/>
            <a:ext cx="201169" cy="32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200">
                <a:solidFill>
                  <a:srgbClr val="F28C28"/>
                </a:solidFill>
              </a:defRPr>
            </a:lvl1pPr>
          </a:lstStyle>
          <a:p>
            <a:pPr/>
            <a:r>
              <a:t>›</a:t>
            </a:r>
          </a:p>
        </p:txBody>
      </p:sp>
      <p:sp>
        <p:nvSpPr>
          <p:cNvPr id="76" name="Google Shape;72;p3"/>
          <p:cNvSpPr/>
          <p:nvPr/>
        </p:nvSpPr>
        <p:spPr>
          <a:xfrm>
            <a:off x="3200400" y="2724911"/>
            <a:ext cx="1170433" cy="1783081"/>
          </a:xfrm>
          <a:prstGeom prst="roundRect">
            <a:avLst>
              <a:gd name="adj" fmla="val 6250"/>
            </a:avLst>
          </a:prstGeom>
          <a:solidFill>
            <a:srgbClr val="FDEBD7"/>
          </a:solidFill>
          <a:ln>
            <a:solidFill>
              <a:srgbClr val="D9DEEA"/>
            </a:solidFill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7" name="Google Shape;73;p3"/>
          <p:cNvSpPr/>
          <p:nvPr/>
        </p:nvSpPr>
        <p:spPr>
          <a:xfrm>
            <a:off x="3602735" y="2834639"/>
            <a:ext cx="365761" cy="365761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8" name="Google Shape;74;p3"/>
          <p:cNvSpPr txBox="1"/>
          <p:nvPr/>
        </p:nvSpPr>
        <p:spPr>
          <a:xfrm>
            <a:off x="3602735" y="2943605"/>
            <a:ext cx="365761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79" name="Google Shape;75;p3"/>
          <p:cNvSpPr txBox="1"/>
          <p:nvPr/>
        </p:nvSpPr>
        <p:spPr>
          <a:xfrm>
            <a:off x="3273552" y="3273552"/>
            <a:ext cx="1024129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B2A5C"/>
                </a:solidFill>
              </a:defRPr>
            </a:lvl1pPr>
          </a:lstStyle>
          <a:p>
            <a:pPr/>
            <a:r>
              <a:t>Output</a:t>
            </a:r>
          </a:p>
        </p:txBody>
      </p:sp>
      <p:sp>
        <p:nvSpPr>
          <p:cNvPr id="80" name="Google Shape;76;p3"/>
          <p:cNvSpPr txBox="1"/>
          <p:nvPr/>
        </p:nvSpPr>
        <p:spPr>
          <a:xfrm>
            <a:off x="3291840" y="3566159"/>
            <a:ext cx="987553" cy="250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i="1" sz="900">
                <a:solidFill>
                  <a:srgbClr val="6B7280"/>
                </a:solidFill>
              </a:defRPr>
            </a:lvl1pPr>
          </a:lstStyle>
          <a:p>
            <a:pPr/>
            <a:r>
              <a:t>[Result for the user]</a:t>
            </a:r>
          </a:p>
        </p:txBody>
      </p:sp>
      <p:sp>
        <p:nvSpPr>
          <p:cNvPr id="81" name="Google Shape;77;p3"/>
          <p:cNvSpPr txBox="1"/>
          <p:nvPr/>
        </p:nvSpPr>
        <p:spPr>
          <a:xfrm>
            <a:off x="4754879" y="1188719"/>
            <a:ext cx="393192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1B2A5C"/>
                </a:solidFill>
              </a:defRPr>
            </a:lvl1pPr>
          </a:lstStyle>
          <a:p>
            <a:pPr/>
            <a:r>
              <a:t>What makes it new?</a:t>
            </a:r>
          </a:p>
        </p:txBody>
      </p:sp>
      <p:graphicFrame>
        <p:nvGraphicFramePr>
          <p:cNvPr id="82" name="Google Shape;78;p3"/>
          <p:cNvGraphicFramePr/>
          <p:nvPr/>
        </p:nvGraphicFramePr>
        <p:xfrm>
          <a:off x="4754879" y="1536191"/>
          <a:ext cx="3931927" cy="192025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188725"/>
                <a:gridCol w="1371600"/>
                <a:gridCol w="1371600"/>
              </a:tblGrid>
              <a:tr h="384050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</a:p>
                  </a:txBody>
                  <a:tcPr marL="45725" marR="45725" marT="45725" marB="45725" anchor="ctr" anchorCtr="0" horzOverflow="overflow">
                    <a:lnL>
                      <a:solidFill>
                        <a:srgbClr val="D9DEEA"/>
                      </a:solidFill>
                    </a:lnL>
                    <a:lnR>
                      <a:solidFill>
                        <a:srgbClr val="D9DEEA"/>
                      </a:solidFill>
                    </a:lnR>
                    <a:lnT>
                      <a:solidFill>
                        <a:srgbClr val="D9DEEA"/>
                      </a:solidFill>
                    </a:lnT>
                    <a:lnB>
                      <a:solidFill>
                        <a:srgbClr val="D9DEEA"/>
                      </a:solidFill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</a:rPr>
                        <a:t>Existing approach</a:t>
                      </a:r>
                    </a:p>
                  </a:txBody>
                  <a:tcPr marL="45725" marR="45725" marT="45725" marB="45725" anchor="ctr" anchorCtr="0" horzOverflow="overflow">
                    <a:lnL>
                      <a:solidFill>
                        <a:srgbClr val="D9DEEA"/>
                      </a:solidFill>
                    </a:lnL>
                    <a:lnR>
                      <a:solidFill>
                        <a:srgbClr val="D9DEEA"/>
                      </a:solidFill>
                    </a:lnR>
                    <a:lnT>
                      <a:solidFill>
                        <a:srgbClr val="D9DEEA"/>
                      </a:solidFill>
                    </a:lnT>
                    <a:lnB>
                      <a:solidFill>
                        <a:srgbClr val="D9DEEA"/>
                      </a:solidFill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</a:rPr>
                        <a:t>Our approach</a:t>
                      </a:r>
                    </a:p>
                  </a:txBody>
                  <a:tcPr marL="45725" marR="45725" marT="45725" marB="45725" anchor="ctr" anchorCtr="0" horzOverflow="overflow">
                    <a:lnL>
                      <a:solidFill>
                        <a:srgbClr val="D9DEEA"/>
                      </a:solidFill>
                    </a:lnL>
                    <a:lnR>
                      <a:solidFill>
                        <a:srgbClr val="D9DEEA"/>
                      </a:solidFill>
                    </a:lnR>
                    <a:lnT>
                      <a:solidFill>
                        <a:srgbClr val="D9DEEA"/>
                      </a:solidFill>
                    </a:lnT>
                    <a:lnB>
                      <a:solidFill>
                        <a:srgbClr val="D9DEEA"/>
                      </a:solidFill>
                    </a:lnB>
                    <a:solidFill>
                      <a:srgbClr val="F28C28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1B2A5C"/>
                          </a:solidFill>
                        </a:rPr>
                        <a:t>Cost</a:t>
                      </a:r>
                    </a:p>
                  </a:txBody>
                  <a:tcPr marL="45725" marR="45725" marT="45725" marB="45725" anchor="ctr" anchorCtr="0" horzOverflow="overflow">
                    <a:lnL>
                      <a:solidFill>
                        <a:srgbClr val="D9DEEA"/>
                      </a:solidFill>
                    </a:lnL>
                    <a:lnR>
                      <a:solidFill>
                        <a:srgbClr val="D9DEEA"/>
                      </a:solidFill>
                    </a:lnR>
                    <a:lnT>
                      <a:solidFill>
                        <a:srgbClr val="D9DEEA"/>
                      </a:solidFill>
                    </a:lnT>
                    <a:lnB>
                      <a:solidFill>
                        <a:srgbClr val="D9DEEA"/>
                      </a:solidFill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i="1" sz="1000">
                          <a:solidFill>
                            <a:srgbClr val="6B7280"/>
                          </a:solidFill>
                        </a:rPr>
                        <a:t>[₹ ___]</a:t>
                      </a:r>
                    </a:p>
                  </a:txBody>
                  <a:tcPr marL="45725" marR="45725" marT="45725" marB="45725" anchor="ctr" anchorCtr="0" horzOverflow="overflow">
                    <a:lnL>
                      <a:solidFill>
                        <a:srgbClr val="D9DEEA"/>
                      </a:solidFill>
                    </a:lnL>
                    <a:lnR>
                      <a:solidFill>
                        <a:srgbClr val="D9DEEA"/>
                      </a:solidFill>
                    </a:lnR>
                    <a:lnT>
                      <a:solidFill>
                        <a:srgbClr val="D9DEEA"/>
                      </a:solidFill>
                    </a:lnT>
                    <a:lnB>
                      <a:solidFill>
                        <a:srgbClr val="D9DEEA"/>
                      </a:solidFill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i="1" sz="1000">
                          <a:solidFill>
                            <a:srgbClr val="6B7280"/>
                          </a:solidFill>
                        </a:rPr>
                        <a:t>[₹ ___]</a:t>
                      </a:r>
                    </a:p>
                  </a:txBody>
                  <a:tcPr marL="45725" marR="45725" marT="45725" marB="45725" anchor="ctr" anchorCtr="0" horzOverflow="overflow">
                    <a:lnL>
                      <a:solidFill>
                        <a:srgbClr val="D9DEEA"/>
                      </a:solidFill>
                    </a:lnL>
                    <a:lnR>
                      <a:solidFill>
                        <a:srgbClr val="D9DEEA"/>
                      </a:solidFill>
                    </a:lnR>
                    <a:lnT>
                      <a:solidFill>
                        <a:srgbClr val="D9DEEA"/>
                      </a:solidFill>
                    </a:lnT>
                    <a:lnB>
                      <a:solidFill>
                        <a:srgbClr val="D9DEEA"/>
                      </a:solidFill>
                    </a:lnB>
                    <a:solidFill>
                      <a:srgbClr val="F4F6FB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1B2A5C"/>
                          </a:solidFill>
                        </a:rPr>
                        <a:t>Speed / time</a:t>
                      </a:r>
                    </a:p>
                  </a:txBody>
                  <a:tcPr marL="45725" marR="45725" marT="45725" marB="45725" anchor="ctr" anchorCtr="0" horzOverflow="overflow">
                    <a:lnL>
                      <a:solidFill>
                        <a:srgbClr val="D9DEEA"/>
                      </a:solidFill>
                    </a:lnL>
                    <a:lnR>
                      <a:solidFill>
                        <a:srgbClr val="D9DEEA"/>
                      </a:solidFill>
                    </a:lnR>
                    <a:lnT>
                      <a:solidFill>
                        <a:srgbClr val="D9DEEA"/>
                      </a:solidFill>
                    </a:lnT>
                    <a:lnB>
                      <a:solidFill>
                        <a:srgbClr val="D9DE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i="1" sz="1000">
                          <a:solidFill>
                            <a:srgbClr val="6B7280"/>
                          </a:solidFill>
                        </a:rPr>
                        <a:t>[___]</a:t>
                      </a:r>
                    </a:p>
                  </a:txBody>
                  <a:tcPr marL="45725" marR="45725" marT="45725" marB="45725" anchor="ctr" anchorCtr="0" horzOverflow="overflow">
                    <a:lnL>
                      <a:solidFill>
                        <a:srgbClr val="D9DEEA"/>
                      </a:solidFill>
                    </a:lnL>
                    <a:lnR>
                      <a:solidFill>
                        <a:srgbClr val="D9DEEA"/>
                      </a:solidFill>
                    </a:lnR>
                    <a:lnT>
                      <a:solidFill>
                        <a:srgbClr val="D9DEEA"/>
                      </a:solidFill>
                    </a:lnT>
                    <a:lnB>
                      <a:solidFill>
                        <a:srgbClr val="D9DE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i="1" sz="1000">
                          <a:solidFill>
                            <a:srgbClr val="6B7280"/>
                          </a:solidFill>
                        </a:rPr>
                        <a:t>[___]</a:t>
                      </a:r>
                    </a:p>
                  </a:txBody>
                  <a:tcPr marL="45725" marR="45725" marT="45725" marB="45725" anchor="ctr" anchorCtr="0" horzOverflow="overflow">
                    <a:lnL>
                      <a:solidFill>
                        <a:srgbClr val="D9DEEA"/>
                      </a:solidFill>
                    </a:lnL>
                    <a:lnR>
                      <a:solidFill>
                        <a:srgbClr val="D9DEEA"/>
                      </a:solidFill>
                    </a:lnR>
                    <a:lnT>
                      <a:solidFill>
                        <a:srgbClr val="D9DEEA"/>
                      </a:solidFill>
                    </a:lnT>
                    <a:lnB>
                      <a:solidFill>
                        <a:srgbClr val="D9DE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1B2A5C"/>
                          </a:solidFill>
                        </a:rPr>
                        <a:t>Reach / access</a:t>
                      </a:r>
                    </a:p>
                  </a:txBody>
                  <a:tcPr marL="45725" marR="45725" marT="45725" marB="45725" anchor="ctr" anchorCtr="0" horzOverflow="overflow">
                    <a:lnL>
                      <a:solidFill>
                        <a:srgbClr val="D9DEEA"/>
                      </a:solidFill>
                    </a:lnL>
                    <a:lnR>
                      <a:solidFill>
                        <a:srgbClr val="D9DEEA"/>
                      </a:solidFill>
                    </a:lnR>
                    <a:lnT>
                      <a:solidFill>
                        <a:srgbClr val="D9DEEA"/>
                      </a:solidFill>
                    </a:lnT>
                    <a:lnB>
                      <a:solidFill>
                        <a:srgbClr val="D9DEEA"/>
                      </a:solidFill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i="1" sz="1000">
                          <a:solidFill>
                            <a:srgbClr val="6B7280"/>
                          </a:solidFill>
                        </a:rPr>
                        <a:t>[___]</a:t>
                      </a:r>
                    </a:p>
                  </a:txBody>
                  <a:tcPr marL="45725" marR="45725" marT="45725" marB="45725" anchor="ctr" anchorCtr="0" horzOverflow="overflow">
                    <a:lnL>
                      <a:solidFill>
                        <a:srgbClr val="D9DEEA"/>
                      </a:solidFill>
                    </a:lnL>
                    <a:lnR>
                      <a:solidFill>
                        <a:srgbClr val="D9DEEA"/>
                      </a:solidFill>
                    </a:lnR>
                    <a:lnT>
                      <a:solidFill>
                        <a:srgbClr val="D9DEEA"/>
                      </a:solidFill>
                    </a:lnT>
                    <a:lnB>
                      <a:solidFill>
                        <a:srgbClr val="D9DEEA"/>
                      </a:solidFill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i="1" sz="1000">
                          <a:solidFill>
                            <a:srgbClr val="6B7280"/>
                          </a:solidFill>
                        </a:rPr>
                        <a:t>[___]</a:t>
                      </a:r>
                    </a:p>
                  </a:txBody>
                  <a:tcPr marL="45725" marR="45725" marT="45725" marB="45725" anchor="ctr" anchorCtr="0" horzOverflow="overflow">
                    <a:lnL>
                      <a:solidFill>
                        <a:srgbClr val="D9DEEA"/>
                      </a:solidFill>
                    </a:lnL>
                    <a:lnR>
                      <a:solidFill>
                        <a:srgbClr val="D9DEEA"/>
                      </a:solidFill>
                    </a:lnR>
                    <a:lnT>
                      <a:solidFill>
                        <a:srgbClr val="D9DEEA"/>
                      </a:solidFill>
                    </a:lnT>
                    <a:lnB>
                      <a:solidFill>
                        <a:srgbClr val="D9DEEA"/>
                      </a:solidFill>
                    </a:lnB>
                    <a:solidFill>
                      <a:srgbClr val="F4F6FB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1B2A5C"/>
                          </a:solidFill>
                        </a:rPr>
                        <a:t>Ease of use</a:t>
                      </a:r>
                    </a:p>
                  </a:txBody>
                  <a:tcPr marL="45725" marR="45725" marT="45725" marB="45725" anchor="ctr" anchorCtr="0" horzOverflow="overflow">
                    <a:lnL>
                      <a:solidFill>
                        <a:srgbClr val="D9DEEA"/>
                      </a:solidFill>
                    </a:lnL>
                    <a:lnR>
                      <a:solidFill>
                        <a:srgbClr val="D9DEEA"/>
                      </a:solidFill>
                    </a:lnR>
                    <a:lnT>
                      <a:solidFill>
                        <a:srgbClr val="D9DEEA"/>
                      </a:solidFill>
                    </a:lnT>
                    <a:lnB>
                      <a:solidFill>
                        <a:srgbClr val="D9DE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i="1" sz="1000">
                          <a:solidFill>
                            <a:srgbClr val="6B7280"/>
                          </a:solidFill>
                        </a:rPr>
                        <a:t>[___]</a:t>
                      </a:r>
                    </a:p>
                  </a:txBody>
                  <a:tcPr marL="45725" marR="45725" marT="45725" marB="45725" anchor="ctr" anchorCtr="0" horzOverflow="overflow">
                    <a:lnL>
                      <a:solidFill>
                        <a:srgbClr val="D9DEEA"/>
                      </a:solidFill>
                    </a:lnL>
                    <a:lnR>
                      <a:solidFill>
                        <a:srgbClr val="D9DEEA"/>
                      </a:solidFill>
                    </a:lnR>
                    <a:lnT>
                      <a:solidFill>
                        <a:srgbClr val="D9DEEA"/>
                      </a:solidFill>
                    </a:lnT>
                    <a:lnB>
                      <a:solidFill>
                        <a:srgbClr val="D9DE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i="1" sz="1000">
                          <a:solidFill>
                            <a:srgbClr val="6B7280"/>
                          </a:solidFill>
                        </a:rPr>
                        <a:t>[___]</a:t>
                      </a:r>
                    </a:p>
                  </a:txBody>
                  <a:tcPr marL="45725" marR="45725" marT="45725" marB="45725" anchor="ctr" anchorCtr="0" horzOverflow="overflow">
                    <a:lnL>
                      <a:solidFill>
                        <a:srgbClr val="D9DEEA"/>
                      </a:solidFill>
                    </a:lnL>
                    <a:lnR>
                      <a:solidFill>
                        <a:srgbClr val="D9DEEA"/>
                      </a:solidFill>
                    </a:lnR>
                    <a:lnT>
                      <a:solidFill>
                        <a:srgbClr val="D9DEEA"/>
                      </a:solidFill>
                    </a:lnT>
                    <a:lnB>
                      <a:solidFill>
                        <a:srgbClr val="D9DE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3" name="Google Shape;79;p3"/>
          <p:cNvSpPr txBox="1"/>
          <p:nvPr/>
        </p:nvSpPr>
        <p:spPr>
          <a:xfrm>
            <a:off x="4754879" y="3611879"/>
            <a:ext cx="393192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B2A5C"/>
                </a:solidFill>
              </a:defRPr>
            </a:lvl1pPr>
          </a:lstStyle>
          <a:p>
            <a:pPr/>
            <a:r>
              <a:t>Key USP</a:t>
            </a:r>
          </a:p>
        </p:txBody>
      </p:sp>
      <p:sp>
        <p:nvSpPr>
          <p:cNvPr id="84" name="Google Shape;80;p3"/>
          <p:cNvSpPr txBox="1"/>
          <p:nvPr/>
        </p:nvSpPr>
        <p:spPr>
          <a:xfrm>
            <a:off x="4754879" y="3886200"/>
            <a:ext cx="3931921" cy="275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1000">
                <a:solidFill>
                  <a:srgbClr val="6B7280"/>
                </a:solidFill>
              </a:defRPr>
            </a:lvl1pPr>
          </a:lstStyle>
          <a:p>
            <a:pPr/>
            <a:r>
              <a:t>[The one thing your solution does that others cannot. Mention any patent filed / granted, if applicable.]</a:t>
            </a:r>
          </a:p>
        </p:txBody>
      </p:sp>
      <p:pic>
        <p:nvPicPr>
          <p:cNvPr id="85" name="atlas-sleep.jpgGoogle Shape;81;p3" descr="atlas-sleep.jpgGoogle Shape;81;p3"/>
          <p:cNvPicPr>
            <a:picLocks noChangeAspect="1"/>
          </p:cNvPicPr>
          <p:nvPr/>
        </p:nvPicPr>
        <p:blipFill>
          <a:blip r:embed="rId3">
            <a:extLst/>
          </a:blip>
          <a:srcRect l="516" t="2144" r="74080" b="2135"/>
          <a:stretch>
            <a:fillRect/>
          </a:stretch>
        </p:blipFill>
        <p:spPr>
          <a:xfrm>
            <a:off x="7429296" y="301737"/>
            <a:ext cx="1166050" cy="53630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7;p4"/>
          <p:cNvSpPr/>
          <p:nvPr/>
        </p:nvSpPr>
        <p:spPr>
          <a:xfrm>
            <a:off x="457200" y="347471"/>
            <a:ext cx="502921" cy="502922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0" name="Google Shape;88;p4"/>
          <p:cNvSpPr txBox="1"/>
          <p:nvPr/>
        </p:nvSpPr>
        <p:spPr>
          <a:xfrm>
            <a:off x="457200" y="494097"/>
            <a:ext cx="502920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91" name="Google Shape;89;p4"/>
          <p:cNvSpPr txBox="1"/>
          <p:nvPr/>
        </p:nvSpPr>
        <p:spPr>
          <a:xfrm>
            <a:off x="1097280" y="301752"/>
            <a:ext cx="6858001" cy="3828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600">
                <a:solidFill>
                  <a:srgbClr val="1B2A5C"/>
                </a:solidFill>
              </a:defRPr>
            </a:lvl1pPr>
          </a:lstStyle>
          <a:p>
            <a:pPr/>
            <a:r>
              <a:t>Feasibility &amp; Implementation</a:t>
            </a:r>
          </a:p>
        </p:txBody>
      </p:sp>
      <p:sp>
        <p:nvSpPr>
          <p:cNvPr id="92" name="Google Shape;90;p4"/>
          <p:cNvSpPr txBox="1"/>
          <p:nvPr/>
        </p:nvSpPr>
        <p:spPr>
          <a:xfrm>
            <a:off x="1097280" y="713231"/>
            <a:ext cx="7589519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1100">
                <a:solidFill>
                  <a:srgbClr val="6B7280"/>
                </a:solidFill>
              </a:defRPr>
            </a:lvl1pPr>
          </a:lstStyle>
          <a:p>
            <a:pPr/>
            <a:r>
              <a:t>How ready is the solution, and what will it take to implement it on the ground?</a:t>
            </a:r>
          </a:p>
        </p:txBody>
      </p:sp>
      <p:sp>
        <p:nvSpPr>
          <p:cNvPr id="93" name="Google Shape;91;p4"/>
          <p:cNvSpPr txBox="1"/>
          <p:nvPr/>
        </p:nvSpPr>
        <p:spPr>
          <a:xfrm>
            <a:off x="5486400" y="4846320"/>
            <a:ext cx="32004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800">
                <a:solidFill>
                  <a:srgbClr val="6B7280"/>
                </a:solidFill>
              </a:defRPr>
            </a:lvl1pPr>
          </a:lstStyle>
          <a:p>
            <a:pPr/>
            <a:r>
              <a:t>Seva Innovation Challenge 2026  |  Slide 4 of 6</a:t>
            </a:r>
          </a:p>
        </p:txBody>
      </p:sp>
      <p:sp>
        <p:nvSpPr>
          <p:cNvPr id="94" name="Google Shape;92;p4"/>
          <p:cNvSpPr txBox="1"/>
          <p:nvPr/>
        </p:nvSpPr>
        <p:spPr>
          <a:xfrm>
            <a:off x="457200" y="1170432"/>
            <a:ext cx="8229600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B2A5C"/>
                </a:solidFill>
              </a:defRPr>
            </a:lvl1pPr>
          </a:lstStyle>
          <a:p>
            <a:pPr/>
            <a:r>
              <a:t>Current stage (mark ✔ where you are today)</a:t>
            </a:r>
          </a:p>
        </p:txBody>
      </p:sp>
      <p:sp>
        <p:nvSpPr>
          <p:cNvPr id="95" name="Google Shape;93;p4"/>
          <p:cNvSpPr/>
          <p:nvPr/>
        </p:nvSpPr>
        <p:spPr>
          <a:xfrm>
            <a:off x="914400" y="1783079"/>
            <a:ext cx="7315200" cy="1"/>
          </a:xfrm>
          <a:prstGeom prst="line">
            <a:avLst/>
          </a:prstGeom>
          <a:ln w="25400">
            <a:solidFill>
              <a:srgbClr val="C3CAE0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96" name="Google Shape;94;p4"/>
          <p:cNvSpPr/>
          <p:nvPr/>
        </p:nvSpPr>
        <p:spPr>
          <a:xfrm>
            <a:off x="758951" y="1627632"/>
            <a:ext cx="310897" cy="310897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28C28"/>
            </a:solidFill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7" name="Google Shape;95;p4"/>
          <p:cNvSpPr txBox="1"/>
          <p:nvPr/>
        </p:nvSpPr>
        <p:spPr>
          <a:xfrm>
            <a:off x="182879" y="2011679"/>
            <a:ext cx="1463042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000">
                <a:solidFill>
                  <a:srgbClr val="1F2937"/>
                </a:solidFill>
              </a:defRPr>
            </a:lvl1pPr>
          </a:lstStyle>
          <a:p>
            <a:pPr/>
            <a:r>
              <a:t>Idea</a:t>
            </a:r>
          </a:p>
        </p:txBody>
      </p:sp>
      <p:sp>
        <p:nvSpPr>
          <p:cNvPr id="98" name="Google Shape;96;p4"/>
          <p:cNvSpPr/>
          <p:nvPr/>
        </p:nvSpPr>
        <p:spPr>
          <a:xfrm>
            <a:off x="2587751" y="1627632"/>
            <a:ext cx="310897" cy="310897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28C28"/>
            </a:solidFill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9" name="Google Shape;97;p4"/>
          <p:cNvSpPr txBox="1"/>
          <p:nvPr/>
        </p:nvSpPr>
        <p:spPr>
          <a:xfrm>
            <a:off x="2011679" y="2011679"/>
            <a:ext cx="1463041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000">
                <a:solidFill>
                  <a:srgbClr val="1F2937"/>
                </a:solidFill>
              </a:defRPr>
            </a:lvl1pPr>
          </a:lstStyle>
          <a:p>
            <a:pPr/>
            <a:r>
              <a:t>Proof of Concept</a:t>
            </a:r>
          </a:p>
        </p:txBody>
      </p:sp>
      <p:sp>
        <p:nvSpPr>
          <p:cNvPr id="100" name="Google Shape;98;p4"/>
          <p:cNvSpPr/>
          <p:nvPr/>
        </p:nvSpPr>
        <p:spPr>
          <a:xfrm>
            <a:off x="4416552" y="1627632"/>
            <a:ext cx="310897" cy="310897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28C28"/>
            </a:solidFill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1" name="Google Shape;99;p4"/>
          <p:cNvSpPr txBox="1"/>
          <p:nvPr/>
        </p:nvSpPr>
        <p:spPr>
          <a:xfrm>
            <a:off x="3840479" y="2011679"/>
            <a:ext cx="1463041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000">
                <a:solidFill>
                  <a:srgbClr val="1F2937"/>
                </a:solidFill>
              </a:defRPr>
            </a:lvl1pPr>
          </a:lstStyle>
          <a:p>
            <a:pPr/>
            <a:r>
              <a:t>Working Prototype</a:t>
            </a:r>
          </a:p>
        </p:txBody>
      </p:sp>
      <p:sp>
        <p:nvSpPr>
          <p:cNvPr id="102" name="Google Shape;100;p4"/>
          <p:cNvSpPr/>
          <p:nvPr/>
        </p:nvSpPr>
        <p:spPr>
          <a:xfrm>
            <a:off x="6245352" y="1627632"/>
            <a:ext cx="310897" cy="310897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28C28"/>
            </a:solidFill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3" name="Google Shape;101;p4"/>
          <p:cNvSpPr txBox="1"/>
          <p:nvPr/>
        </p:nvSpPr>
        <p:spPr>
          <a:xfrm>
            <a:off x="5669279" y="2011679"/>
            <a:ext cx="1463041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000">
                <a:solidFill>
                  <a:srgbClr val="1F2937"/>
                </a:solidFill>
              </a:defRPr>
            </a:lvl1pPr>
          </a:lstStyle>
          <a:p>
            <a:pPr/>
            <a:r>
              <a:t>Field Pilot</a:t>
            </a:r>
          </a:p>
        </p:txBody>
      </p:sp>
      <p:sp>
        <p:nvSpPr>
          <p:cNvPr id="104" name="Google Shape;102;p4"/>
          <p:cNvSpPr/>
          <p:nvPr/>
        </p:nvSpPr>
        <p:spPr>
          <a:xfrm>
            <a:off x="8074152" y="1627632"/>
            <a:ext cx="310897" cy="310897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28C28"/>
            </a:solidFill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5" name="Google Shape;103;p4"/>
          <p:cNvSpPr txBox="1"/>
          <p:nvPr/>
        </p:nvSpPr>
        <p:spPr>
          <a:xfrm>
            <a:off x="7498080" y="2011679"/>
            <a:ext cx="1463041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000">
                <a:solidFill>
                  <a:srgbClr val="1F2937"/>
                </a:solidFill>
              </a:defRPr>
            </a:lvl1pPr>
          </a:lstStyle>
          <a:p>
            <a:pPr/>
            <a:r>
              <a:t>Ready to Deploy</a:t>
            </a:r>
          </a:p>
        </p:txBody>
      </p:sp>
      <p:sp>
        <p:nvSpPr>
          <p:cNvPr id="106" name="Google Shape;104;p4"/>
          <p:cNvSpPr/>
          <p:nvPr/>
        </p:nvSpPr>
        <p:spPr>
          <a:xfrm>
            <a:off x="457200" y="2514600"/>
            <a:ext cx="1920240" cy="2103121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>
            <a:solidFill>
              <a:srgbClr val="D9DEEA"/>
            </a:solidFill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7" name="Google Shape;105;p4"/>
          <p:cNvSpPr txBox="1"/>
          <p:nvPr/>
        </p:nvSpPr>
        <p:spPr>
          <a:xfrm>
            <a:off x="594359" y="2624327"/>
            <a:ext cx="164592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B2A5C"/>
                </a:solidFill>
              </a:defRPr>
            </a:lvl1pPr>
          </a:lstStyle>
          <a:p>
            <a:pPr/>
            <a:r>
              <a:t>Technology</a:t>
            </a:r>
          </a:p>
        </p:txBody>
      </p:sp>
      <p:sp>
        <p:nvSpPr>
          <p:cNvPr id="108" name="Google Shape;106;p4"/>
          <p:cNvSpPr txBox="1"/>
          <p:nvPr/>
        </p:nvSpPr>
        <p:spPr>
          <a:xfrm>
            <a:off x="594359" y="2898648"/>
            <a:ext cx="1645922" cy="4149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1000">
                <a:solidFill>
                  <a:srgbClr val="6B7280"/>
                </a:solidFill>
              </a:defRPr>
            </a:lvl1pPr>
          </a:lstStyle>
          <a:p>
            <a:pPr/>
            <a:r>
              <a:t>Hardware, software, materials, lab or field facilities used or needed.</a:t>
            </a:r>
          </a:p>
        </p:txBody>
      </p:sp>
      <p:sp>
        <p:nvSpPr>
          <p:cNvPr id="109" name="Google Shape;107;p4"/>
          <p:cNvSpPr/>
          <p:nvPr/>
        </p:nvSpPr>
        <p:spPr>
          <a:xfrm>
            <a:off x="2560320" y="2514600"/>
            <a:ext cx="1920241" cy="2103121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>
            <a:solidFill>
              <a:srgbClr val="D9DEEA"/>
            </a:solidFill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0" name="Google Shape;108;p4"/>
          <p:cNvSpPr txBox="1"/>
          <p:nvPr/>
        </p:nvSpPr>
        <p:spPr>
          <a:xfrm>
            <a:off x="2697479" y="2624327"/>
            <a:ext cx="164592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B2A5C"/>
                </a:solidFill>
              </a:defRPr>
            </a:lvl1pPr>
          </a:lstStyle>
          <a:p>
            <a:pPr/>
            <a:r>
              <a:t>Estimated cost</a:t>
            </a:r>
          </a:p>
        </p:txBody>
      </p:sp>
      <p:sp>
        <p:nvSpPr>
          <p:cNvPr id="111" name="Google Shape;109;p4"/>
          <p:cNvSpPr txBox="1"/>
          <p:nvPr/>
        </p:nvSpPr>
        <p:spPr>
          <a:xfrm>
            <a:off x="2697479" y="2898648"/>
            <a:ext cx="1645921" cy="4149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1000">
                <a:solidFill>
                  <a:srgbClr val="6B7280"/>
                </a:solidFill>
              </a:defRPr>
            </a:lvl1pPr>
          </a:lstStyle>
          <a:p>
            <a:pPr/>
            <a:r>
              <a:t>Cost per unit / per user and total cost for a pilot. Show how it is affordable.</a:t>
            </a:r>
          </a:p>
        </p:txBody>
      </p:sp>
      <p:sp>
        <p:nvSpPr>
          <p:cNvPr id="112" name="Google Shape;110;p4"/>
          <p:cNvSpPr/>
          <p:nvPr/>
        </p:nvSpPr>
        <p:spPr>
          <a:xfrm>
            <a:off x="4663440" y="2514600"/>
            <a:ext cx="1920241" cy="2103121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>
            <a:solidFill>
              <a:srgbClr val="D9DEEA"/>
            </a:solidFill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3" name="Google Shape;111;p4"/>
          <p:cNvSpPr txBox="1"/>
          <p:nvPr/>
        </p:nvSpPr>
        <p:spPr>
          <a:xfrm>
            <a:off x="4800600" y="2624327"/>
            <a:ext cx="164592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B2A5C"/>
                </a:solidFill>
              </a:defRPr>
            </a:lvl1pPr>
          </a:lstStyle>
          <a:p>
            <a:pPr/>
            <a:r>
              <a:t>Timeline</a:t>
            </a:r>
          </a:p>
        </p:txBody>
      </p:sp>
      <p:sp>
        <p:nvSpPr>
          <p:cNvPr id="114" name="Google Shape;112;p4"/>
          <p:cNvSpPr txBox="1"/>
          <p:nvPr/>
        </p:nvSpPr>
        <p:spPr>
          <a:xfrm>
            <a:off x="4800600" y="2898648"/>
            <a:ext cx="1645921" cy="275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1000">
                <a:solidFill>
                  <a:srgbClr val="6B7280"/>
                </a:solidFill>
              </a:defRPr>
            </a:lvl1pPr>
          </a:lstStyle>
          <a:p>
            <a:pPr/>
            <a:r>
              <a:t>Key milestones for the next 3, 6 and 12 months.</a:t>
            </a:r>
          </a:p>
        </p:txBody>
      </p:sp>
      <p:sp>
        <p:nvSpPr>
          <p:cNvPr id="115" name="Google Shape;113;p4"/>
          <p:cNvSpPr/>
          <p:nvPr/>
        </p:nvSpPr>
        <p:spPr>
          <a:xfrm>
            <a:off x="6766559" y="2514600"/>
            <a:ext cx="1920241" cy="2103121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>
            <a:solidFill>
              <a:srgbClr val="D9DEEA"/>
            </a:solidFill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6" name="Google Shape;114;p4"/>
          <p:cNvSpPr txBox="1"/>
          <p:nvPr/>
        </p:nvSpPr>
        <p:spPr>
          <a:xfrm>
            <a:off x="6903719" y="2624327"/>
            <a:ext cx="164592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B2A5C"/>
                </a:solidFill>
              </a:defRPr>
            </a:lvl1pPr>
          </a:lstStyle>
          <a:p>
            <a:pPr/>
            <a:r>
              <a:t>Partners</a:t>
            </a:r>
          </a:p>
        </p:txBody>
      </p:sp>
      <p:sp>
        <p:nvSpPr>
          <p:cNvPr id="117" name="Google Shape;115;p4"/>
          <p:cNvSpPr txBox="1"/>
          <p:nvPr/>
        </p:nvSpPr>
        <p:spPr>
          <a:xfrm>
            <a:off x="6903719" y="2898648"/>
            <a:ext cx="1645921" cy="554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1000">
                <a:solidFill>
                  <a:srgbClr val="6B7280"/>
                </a:solidFill>
              </a:defRPr>
            </a:lvl1pPr>
          </a:lstStyle>
          <a:p>
            <a:pPr/>
            <a:r>
              <a:t>Government department, PSU, local body, industry or NGO that will adopt or pilot it.</a:t>
            </a:r>
          </a:p>
        </p:txBody>
      </p:sp>
      <p:pic>
        <p:nvPicPr>
          <p:cNvPr id="118" name="atlas-sleep.jpgGoogle Shape;116;p4" descr="atlas-sleep.jpgGoogle Shape;116;p4"/>
          <p:cNvPicPr>
            <a:picLocks noChangeAspect="1"/>
          </p:cNvPicPr>
          <p:nvPr/>
        </p:nvPicPr>
        <p:blipFill>
          <a:blip r:embed="rId3">
            <a:extLst/>
          </a:blip>
          <a:srcRect l="516" t="2144" r="74080" b="2135"/>
          <a:stretch>
            <a:fillRect/>
          </a:stretch>
        </p:blipFill>
        <p:spPr>
          <a:xfrm>
            <a:off x="7429296" y="301737"/>
            <a:ext cx="1166050" cy="53630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"/>
          <p:cNvSpPr/>
          <p:nvPr/>
        </p:nvSpPr>
        <p:spPr>
          <a:xfrm>
            <a:off x="457200" y="347471"/>
            <a:ext cx="502921" cy="502922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3" name="Google Shape;123;p5"/>
          <p:cNvSpPr txBox="1"/>
          <p:nvPr/>
        </p:nvSpPr>
        <p:spPr>
          <a:xfrm>
            <a:off x="457200" y="494097"/>
            <a:ext cx="502920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24" name="Google Shape;124;p5"/>
          <p:cNvSpPr txBox="1"/>
          <p:nvPr/>
        </p:nvSpPr>
        <p:spPr>
          <a:xfrm>
            <a:off x="1097280" y="301752"/>
            <a:ext cx="6858001" cy="3828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600">
                <a:solidFill>
                  <a:srgbClr val="1B2A5C"/>
                </a:solidFill>
              </a:defRPr>
            </a:lvl1pPr>
          </a:lstStyle>
          <a:p>
            <a:pPr/>
            <a:r>
              <a:t>Impact &amp; Scalability</a:t>
            </a:r>
          </a:p>
        </p:txBody>
      </p:sp>
      <p:sp>
        <p:nvSpPr>
          <p:cNvPr id="125" name="Google Shape;125;p5"/>
          <p:cNvSpPr txBox="1"/>
          <p:nvPr/>
        </p:nvSpPr>
        <p:spPr>
          <a:xfrm>
            <a:off x="1097280" y="713231"/>
            <a:ext cx="7589519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1100">
                <a:solidFill>
                  <a:srgbClr val="6B7280"/>
                </a:solidFill>
              </a:defRPr>
            </a:lvl1pPr>
          </a:lstStyle>
          <a:p>
            <a:pPr/>
            <a:r>
              <a:t>What change will your solution create, and how can it grow beyond the first location?</a:t>
            </a:r>
          </a:p>
        </p:txBody>
      </p:sp>
      <p:sp>
        <p:nvSpPr>
          <p:cNvPr id="126" name="Google Shape;126;p5"/>
          <p:cNvSpPr txBox="1"/>
          <p:nvPr/>
        </p:nvSpPr>
        <p:spPr>
          <a:xfrm>
            <a:off x="5486400" y="4846320"/>
            <a:ext cx="32004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800">
                <a:solidFill>
                  <a:srgbClr val="6B7280"/>
                </a:solidFill>
              </a:defRPr>
            </a:lvl1pPr>
          </a:lstStyle>
          <a:p>
            <a:pPr/>
            <a:r>
              <a:t>Seva Innovation Challenge 2026  |  Slide 5 of 6</a:t>
            </a:r>
          </a:p>
        </p:txBody>
      </p:sp>
      <p:sp>
        <p:nvSpPr>
          <p:cNvPr id="127" name="Google Shape;127;p5"/>
          <p:cNvSpPr/>
          <p:nvPr/>
        </p:nvSpPr>
        <p:spPr>
          <a:xfrm>
            <a:off x="457200" y="1188719"/>
            <a:ext cx="2606040" cy="1463041"/>
          </a:xfrm>
          <a:prstGeom prst="roundRect">
            <a:avLst>
              <a:gd name="adj" fmla="val 5000"/>
            </a:avLst>
          </a:prstGeom>
          <a:solidFill>
            <a:srgbClr val="FDEBD7"/>
          </a:solidFill>
          <a:ln>
            <a:solidFill>
              <a:srgbClr val="D9DEEA"/>
            </a:solidFill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8" name="Google Shape;128;p5"/>
          <p:cNvSpPr txBox="1"/>
          <p:nvPr/>
        </p:nvSpPr>
        <p:spPr>
          <a:xfrm>
            <a:off x="548640" y="1280160"/>
            <a:ext cx="2423161" cy="41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3000">
                <a:solidFill>
                  <a:srgbClr val="1B2A5C"/>
                </a:solidFill>
              </a:defRPr>
            </a:lvl1pPr>
          </a:lstStyle>
          <a:p>
            <a:pPr/>
            <a:r>
              <a:t>[_____]</a:t>
            </a:r>
          </a:p>
        </p:txBody>
      </p:sp>
      <p:sp>
        <p:nvSpPr>
          <p:cNvPr id="129" name="Google Shape;129;p5"/>
          <p:cNvSpPr txBox="1"/>
          <p:nvPr/>
        </p:nvSpPr>
        <p:spPr>
          <a:xfrm>
            <a:off x="548640" y="1938527"/>
            <a:ext cx="2423161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2937"/>
                </a:solidFill>
              </a:defRPr>
            </a:lvl1pPr>
          </a:lstStyle>
          <a:p>
            <a:pPr/>
            <a:r>
              <a:t>Beneficiaries reached</a:t>
            </a:r>
          </a:p>
        </p:txBody>
      </p:sp>
      <p:sp>
        <p:nvSpPr>
          <p:cNvPr id="130" name="Google Shape;130;p5"/>
          <p:cNvSpPr txBox="1"/>
          <p:nvPr/>
        </p:nvSpPr>
        <p:spPr>
          <a:xfrm>
            <a:off x="548640" y="2212848"/>
            <a:ext cx="24231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i="1" sz="900">
                <a:solidFill>
                  <a:srgbClr val="6B7280"/>
                </a:solidFill>
              </a:defRPr>
            </a:lvl1pPr>
          </a:lstStyle>
          <a:p>
            <a:pPr/>
            <a:r>
              <a:t>[in first year of implementation]</a:t>
            </a:r>
          </a:p>
        </p:txBody>
      </p:sp>
      <p:sp>
        <p:nvSpPr>
          <p:cNvPr id="131" name="Google Shape;131;p5"/>
          <p:cNvSpPr/>
          <p:nvPr/>
        </p:nvSpPr>
        <p:spPr>
          <a:xfrm>
            <a:off x="3264408" y="1188719"/>
            <a:ext cx="2606041" cy="1463041"/>
          </a:xfrm>
          <a:prstGeom prst="roundRect">
            <a:avLst>
              <a:gd name="adj" fmla="val 5000"/>
            </a:avLst>
          </a:prstGeom>
          <a:solidFill>
            <a:srgbClr val="FDEBD7"/>
          </a:solidFill>
          <a:ln>
            <a:solidFill>
              <a:srgbClr val="D9DEEA"/>
            </a:solidFill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2" name="Google Shape;132;p5"/>
          <p:cNvSpPr txBox="1"/>
          <p:nvPr/>
        </p:nvSpPr>
        <p:spPr>
          <a:xfrm>
            <a:off x="3355847" y="1280160"/>
            <a:ext cx="2423161" cy="41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3000">
                <a:solidFill>
                  <a:srgbClr val="1B2A5C"/>
                </a:solidFill>
              </a:defRPr>
            </a:lvl1pPr>
          </a:lstStyle>
          <a:p>
            <a:pPr/>
            <a:r>
              <a:t>[__ %]</a:t>
            </a:r>
          </a:p>
        </p:txBody>
      </p:sp>
      <p:sp>
        <p:nvSpPr>
          <p:cNvPr id="133" name="Google Shape;133;p5"/>
          <p:cNvSpPr txBox="1"/>
          <p:nvPr/>
        </p:nvSpPr>
        <p:spPr>
          <a:xfrm>
            <a:off x="3355847" y="1938527"/>
            <a:ext cx="2423161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2937"/>
                </a:solidFill>
              </a:defRPr>
            </a:lvl1pPr>
          </a:lstStyle>
          <a:p>
            <a:pPr/>
            <a:r>
              <a:t>Saving in cost / time</a:t>
            </a:r>
          </a:p>
        </p:txBody>
      </p:sp>
      <p:sp>
        <p:nvSpPr>
          <p:cNvPr id="134" name="Google Shape;134;p5"/>
          <p:cNvSpPr txBox="1"/>
          <p:nvPr/>
        </p:nvSpPr>
        <p:spPr>
          <a:xfrm>
            <a:off x="3355847" y="2212848"/>
            <a:ext cx="24231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i="1" sz="900">
                <a:solidFill>
                  <a:srgbClr val="6B7280"/>
                </a:solidFill>
              </a:defRPr>
            </a:lvl1pPr>
          </a:lstStyle>
          <a:p>
            <a:pPr/>
            <a:r>
              <a:t>[compared to current practice]</a:t>
            </a:r>
          </a:p>
        </p:txBody>
      </p:sp>
      <p:sp>
        <p:nvSpPr>
          <p:cNvPr id="135" name="Google Shape;135;p5"/>
          <p:cNvSpPr/>
          <p:nvPr/>
        </p:nvSpPr>
        <p:spPr>
          <a:xfrm>
            <a:off x="6071615" y="1188719"/>
            <a:ext cx="2606041" cy="1463041"/>
          </a:xfrm>
          <a:prstGeom prst="roundRect">
            <a:avLst>
              <a:gd name="adj" fmla="val 5000"/>
            </a:avLst>
          </a:prstGeom>
          <a:solidFill>
            <a:srgbClr val="FDEBD7"/>
          </a:solidFill>
          <a:ln>
            <a:solidFill>
              <a:srgbClr val="D9DEEA"/>
            </a:solidFill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6" name="Google Shape;136;p5"/>
          <p:cNvSpPr txBox="1"/>
          <p:nvPr/>
        </p:nvSpPr>
        <p:spPr>
          <a:xfrm>
            <a:off x="6163055" y="1280160"/>
            <a:ext cx="2423162" cy="41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3000">
                <a:solidFill>
                  <a:srgbClr val="1B2A5C"/>
                </a:solidFill>
              </a:defRPr>
            </a:lvl1pPr>
          </a:lstStyle>
          <a:p>
            <a:pPr/>
            <a:r>
              <a:t>[_____]</a:t>
            </a:r>
          </a:p>
        </p:txBody>
      </p:sp>
      <p:sp>
        <p:nvSpPr>
          <p:cNvPr id="137" name="Google Shape;137;p5"/>
          <p:cNvSpPr txBox="1"/>
          <p:nvPr/>
        </p:nvSpPr>
        <p:spPr>
          <a:xfrm>
            <a:off x="6163055" y="1938527"/>
            <a:ext cx="2423162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2937"/>
                </a:solidFill>
              </a:defRPr>
            </a:lvl1pPr>
          </a:lstStyle>
          <a:p>
            <a:pPr/>
            <a:r>
              <a:t>Jobs or livelihoods</a:t>
            </a:r>
          </a:p>
        </p:txBody>
      </p:sp>
      <p:sp>
        <p:nvSpPr>
          <p:cNvPr id="138" name="Google Shape;138;p5"/>
          <p:cNvSpPr txBox="1"/>
          <p:nvPr/>
        </p:nvSpPr>
        <p:spPr>
          <a:xfrm>
            <a:off x="6163055" y="2212848"/>
            <a:ext cx="24231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i="1" sz="900">
                <a:solidFill>
                  <a:srgbClr val="6B7280"/>
                </a:solidFill>
              </a:defRPr>
            </a:lvl1pPr>
          </a:lstStyle>
          <a:p>
            <a:pPr/>
            <a:r>
              <a:t>[created or supported]</a:t>
            </a:r>
          </a:p>
        </p:txBody>
      </p:sp>
      <p:sp>
        <p:nvSpPr>
          <p:cNvPr id="139" name="Google Shape;139;p5"/>
          <p:cNvSpPr/>
          <p:nvPr/>
        </p:nvSpPr>
        <p:spPr>
          <a:xfrm>
            <a:off x="457200" y="2834639"/>
            <a:ext cx="2606040" cy="1783081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>
            <a:solidFill>
              <a:srgbClr val="D9DEEA"/>
            </a:solidFill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0" name="Google Shape;140;p5"/>
          <p:cNvSpPr txBox="1"/>
          <p:nvPr/>
        </p:nvSpPr>
        <p:spPr>
          <a:xfrm>
            <a:off x="594359" y="2944367"/>
            <a:ext cx="233172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B2A5C"/>
                </a:solidFill>
              </a:defRPr>
            </a:lvl1pPr>
          </a:lstStyle>
          <a:p>
            <a:pPr/>
            <a:r>
              <a:t>Social impact</a:t>
            </a:r>
          </a:p>
        </p:txBody>
      </p:sp>
      <p:sp>
        <p:nvSpPr>
          <p:cNvPr id="141" name="Google Shape;141;p5"/>
          <p:cNvSpPr txBox="1"/>
          <p:nvPr/>
        </p:nvSpPr>
        <p:spPr>
          <a:xfrm>
            <a:off x="594359" y="3218688"/>
            <a:ext cx="2331722" cy="275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1000">
                <a:solidFill>
                  <a:srgbClr val="6B7280"/>
                </a:solidFill>
              </a:defRPr>
            </a:lvl1pPr>
          </a:lstStyle>
          <a:p>
            <a:pPr/>
            <a:r>
              <a:t>Effect on quality of life, safety, inclusion (women, rural, divyang), or environment.</a:t>
            </a:r>
          </a:p>
        </p:txBody>
      </p:sp>
      <p:sp>
        <p:nvSpPr>
          <p:cNvPr id="142" name="Google Shape;142;p5"/>
          <p:cNvSpPr/>
          <p:nvPr/>
        </p:nvSpPr>
        <p:spPr>
          <a:xfrm>
            <a:off x="3264408" y="2834639"/>
            <a:ext cx="2606041" cy="1783081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>
            <a:solidFill>
              <a:srgbClr val="D9DEEA"/>
            </a:solidFill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3" name="Google Shape;143;p5"/>
          <p:cNvSpPr txBox="1"/>
          <p:nvPr/>
        </p:nvSpPr>
        <p:spPr>
          <a:xfrm>
            <a:off x="3401567" y="2944367"/>
            <a:ext cx="233172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B2A5C"/>
                </a:solidFill>
              </a:defRPr>
            </a:lvl1pPr>
          </a:lstStyle>
          <a:p>
            <a:pPr/>
            <a:r>
              <a:t>Sustainability</a:t>
            </a:r>
          </a:p>
        </p:txBody>
      </p:sp>
      <p:sp>
        <p:nvSpPr>
          <p:cNvPr id="144" name="Google Shape;144;p5"/>
          <p:cNvSpPr txBox="1"/>
          <p:nvPr/>
        </p:nvSpPr>
        <p:spPr>
          <a:xfrm>
            <a:off x="3401567" y="3218688"/>
            <a:ext cx="2331722" cy="4149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1000">
                <a:solidFill>
                  <a:srgbClr val="6B7280"/>
                </a:solidFill>
              </a:defRPr>
            </a:lvl1pPr>
          </a:lstStyle>
          <a:p>
            <a:pPr/>
            <a:r>
              <a:t>How the solution will run long-term — revenue model, user fee, CSR or department budget.</a:t>
            </a:r>
          </a:p>
        </p:txBody>
      </p:sp>
      <p:sp>
        <p:nvSpPr>
          <p:cNvPr id="145" name="Google Shape;145;p5"/>
          <p:cNvSpPr/>
          <p:nvPr/>
        </p:nvSpPr>
        <p:spPr>
          <a:xfrm>
            <a:off x="6071615" y="2834639"/>
            <a:ext cx="2606041" cy="1783081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>
            <a:solidFill>
              <a:srgbClr val="D9DEEA"/>
            </a:solidFill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6" name="Google Shape;146;p5"/>
          <p:cNvSpPr txBox="1"/>
          <p:nvPr/>
        </p:nvSpPr>
        <p:spPr>
          <a:xfrm>
            <a:off x="6208776" y="2944367"/>
            <a:ext cx="233172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B2A5C"/>
                </a:solidFill>
              </a:defRPr>
            </a:lvl1pPr>
          </a:lstStyle>
          <a:p>
            <a:pPr/>
            <a:r>
              <a:t>Scale-up plan</a:t>
            </a:r>
          </a:p>
        </p:txBody>
      </p:sp>
      <p:sp>
        <p:nvSpPr>
          <p:cNvPr id="147" name="Google Shape;147;p5"/>
          <p:cNvSpPr txBox="1"/>
          <p:nvPr/>
        </p:nvSpPr>
        <p:spPr>
          <a:xfrm>
            <a:off x="6208776" y="3218688"/>
            <a:ext cx="2331721" cy="275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1000">
                <a:solidFill>
                  <a:srgbClr val="6B7280"/>
                </a:solidFill>
              </a:defRPr>
            </a:lvl1pPr>
          </a:lstStyle>
          <a:p>
            <a:pPr/>
            <a:r>
              <a:t>How it can be replicated in other districts or states, and what is needed to do so.</a:t>
            </a:r>
          </a:p>
        </p:txBody>
      </p:sp>
      <p:pic>
        <p:nvPicPr>
          <p:cNvPr id="148" name="atlas-sleep.jpgGoogle Shape;148;p5" descr="atlas-sleep.jpgGoogle Shape;148;p5"/>
          <p:cNvPicPr>
            <a:picLocks noChangeAspect="1"/>
          </p:cNvPicPr>
          <p:nvPr/>
        </p:nvPicPr>
        <p:blipFill>
          <a:blip r:embed="rId3">
            <a:extLst/>
          </a:blip>
          <a:srcRect l="516" t="2144" r="74080" b="2135"/>
          <a:stretch>
            <a:fillRect/>
          </a:stretch>
        </p:blipFill>
        <p:spPr>
          <a:xfrm>
            <a:off x="7429296" y="301737"/>
            <a:ext cx="1166050" cy="53630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4;p6"/>
          <p:cNvSpPr/>
          <p:nvPr/>
        </p:nvSpPr>
        <p:spPr>
          <a:xfrm>
            <a:off x="457200" y="347471"/>
            <a:ext cx="502921" cy="502922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3" name="Google Shape;155;p6"/>
          <p:cNvSpPr txBox="1"/>
          <p:nvPr/>
        </p:nvSpPr>
        <p:spPr>
          <a:xfrm>
            <a:off x="457200" y="494097"/>
            <a:ext cx="502920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54" name="Google Shape;156;p6"/>
          <p:cNvSpPr txBox="1"/>
          <p:nvPr/>
        </p:nvSpPr>
        <p:spPr>
          <a:xfrm>
            <a:off x="1097280" y="301752"/>
            <a:ext cx="6858001" cy="3828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600">
                <a:solidFill>
                  <a:srgbClr val="FFFFFF"/>
                </a:solidFill>
              </a:defRPr>
            </a:lvl1pPr>
          </a:lstStyle>
          <a:p>
            <a:pPr/>
            <a:r>
              <a:t>Team/Individual &amp; Support Required</a:t>
            </a:r>
          </a:p>
        </p:txBody>
      </p:sp>
      <p:sp>
        <p:nvSpPr>
          <p:cNvPr id="155" name="Google Shape;157;p6"/>
          <p:cNvSpPr txBox="1"/>
          <p:nvPr/>
        </p:nvSpPr>
        <p:spPr>
          <a:xfrm>
            <a:off x="1097280" y="713231"/>
            <a:ext cx="7589519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1100">
                <a:solidFill>
                  <a:srgbClr val="C9D2EC"/>
                </a:solidFill>
              </a:defRPr>
            </a:lvl1pPr>
          </a:lstStyle>
          <a:p>
            <a:pPr/>
            <a:r>
              <a:t>Who is behind the idea, and what help do you need from the Challenge?</a:t>
            </a:r>
          </a:p>
        </p:txBody>
      </p:sp>
      <p:sp>
        <p:nvSpPr>
          <p:cNvPr id="156" name="Google Shape;158;p6"/>
          <p:cNvSpPr/>
          <p:nvPr/>
        </p:nvSpPr>
        <p:spPr>
          <a:xfrm>
            <a:off x="457200" y="1188719"/>
            <a:ext cx="2103121" cy="1143001"/>
          </a:xfrm>
          <a:prstGeom prst="roundRect">
            <a:avLst>
              <a:gd name="adj" fmla="val 6400"/>
            </a:avLst>
          </a:prstGeom>
          <a:solidFill>
            <a:srgbClr val="253870"/>
          </a:solidFill>
          <a:ln w="12700">
            <a:solidFill>
              <a:srgbClr val="253870"/>
            </a:solidFill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7" name="Google Shape;159;p6"/>
          <p:cNvSpPr/>
          <p:nvPr/>
        </p:nvSpPr>
        <p:spPr>
          <a:xfrm>
            <a:off x="594359" y="1371600"/>
            <a:ext cx="502922" cy="502921"/>
          </a:xfrm>
          <a:prstGeom prst="ellipse">
            <a:avLst/>
          </a:prstGeom>
          <a:solidFill>
            <a:srgbClr val="3A4C85"/>
          </a:solidFill>
          <a:ln w="12700">
            <a:solidFill>
              <a:srgbClr val="F28C28"/>
            </a:solidFill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8" name="Google Shape;160;p6"/>
          <p:cNvSpPr txBox="1"/>
          <p:nvPr/>
        </p:nvSpPr>
        <p:spPr>
          <a:xfrm>
            <a:off x="594359" y="1559559"/>
            <a:ext cx="5029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700">
                <a:solidFill>
                  <a:srgbClr val="C9D2EC"/>
                </a:solidFill>
              </a:defRPr>
            </a:lvl1pPr>
          </a:lstStyle>
          <a:p>
            <a:pPr/>
            <a:r>
              <a:t>Photo</a:t>
            </a:r>
          </a:p>
        </p:txBody>
      </p:sp>
      <p:sp>
        <p:nvSpPr>
          <p:cNvPr id="159" name="Google Shape;161;p6"/>
          <p:cNvSpPr txBox="1"/>
          <p:nvPr/>
        </p:nvSpPr>
        <p:spPr>
          <a:xfrm>
            <a:off x="1207008" y="1353311"/>
            <a:ext cx="1280161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[Name 1]</a:t>
            </a:r>
          </a:p>
        </p:txBody>
      </p:sp>
      <p:sp>
        <p:nvSpPr>
          <p:cNvPr id="160" name="Google Shape;162;p6"/>
          <p:cNvSpPr txBox="1"/>
          <p:nvPr/>
        </p:nvSpPr>
        <p:spPr>
          <a:xfrm>
            <a:off x="1207008" y="1609344"/>
            <a:ext cx="12801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900">
                <a:solidFill>
                  <a:srgbClr val="F28C28"/>
                </a:solidFill>
              </a:defRPr>
            </a:lvl1pPr>
          </a:lstStyle>
          <a:p>
            <a:pPr/>
            <a:r>
              <a:t>[Role in team]</a:t>
            </a:r>
          </a:p>
        </p:txBody>
      </p:sp>
      <p:sp>
        <p:nvSpPr>
          <p:cNvPr id="161" name="Google Shape;163;p6"/>
          <p:cNvSpPr txBox="1"/>
          <p:nvPr/>
        </p:nvSpPr>
        <p:spPr>
          <a:xfrm>
            <a:off x="1207008" y="1828800"/>
            <a:ext cx="1280161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800">
                <a:solidFill>
                  <a:srgbClr val="C9D2EC"/>
                </a:solidFill>
              </a:defRPr>
            </a:lvl1pPr>
          </a:lstStyle>
          <a:p>
            <a:pPr/>
            <a:r>
              <a:t>[Qualification / expertise]</a:t>
            </a:r>
          </a:p>
        </p:txBody>
      </p:sp>
      <p:sp>
        <p:nvSpPr>
          <p:cNvPr id="162" name="Google Shape;164;p6"/>
          <p:cNvSpPr/>
          <p:nvPr/>
        </p:nvSpPr>
        <p:spPr>
          <a:xfrm>
            <a:off x="2697479" y="1188719"/>
            <a:ext cx="2103121" cy="1143001"/>
          </a:xfrm>
          <a:prstGeom prst="roundRect">
            <a:avLst>
              <a:gd name="adj" fmla="val 6400"/>
            </a:avLst>
          </a:prstGeom>
          <a:solidFill>
            <a:srgbClr val="253870"/>
          </a:solidFill>
          <a:ln w="12700">
            <a:solidFill>
              <a:srgbClr val="253870"/>
            </a:solidFill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3" name="Google Shape;165;p6"/>
          <p:cNvSpPr/>
          <p:nvPr/>
        </p:nvSpPr>
        <p:spPr>
          <a:xfrm>
            <a:off x="2834639" y="1371600"/>
            <a:ext cx="502921" cy="502921"/>
          </a:xfrm>
          <a:prstGeom prst="ellipse">
            <a:avLst/>
          </a:prstGeom>
          <a:solidFill>
            <a:srgbClr val="3A4C85"/>
          </a:solidFill>
          <a:ln w="12700">
            <a:solidFill>
              <a:srgbClr val="F28C28"/>
            </a:solidFill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4" name="Google Shape;166;p6"/>
          <p:cNvSpPr txBox="1"/>
          <p:nvPr/>
        </p:nvSpPr>
        <p:spPr>
          <a:xfrm>
            <a:off x="2834639" y="1559559"/>
            <a:ext cx="50292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700">
                <a:solidFill>
                  <a:srgbClr val="C9D2EC"/>
                </a:solidFill>
              </a:defRPr>
            </a:lvl1pPr>
          </a:lstStyle>
          <a:p>
            <a:pPr/>
            <a:r>
              <a:t>Photo</a:t>
            </a:r>
          </a:p>
        </p:txBody>
      </p:sp>
      <p:sp>
        <p:nvSpPr>
          <p:cNvPr id="165" name="Google Shape;167;p6"/>
          <p:cNvSpPr txBox="1"/>
          <p:nvPr/>
        </p:nvSpPr>
        <p:spPr>
          <a:xfrm>
            <a:off x="3447288" y="1353311"/>
            <a:ext cx="1280161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[Name 2]</a:t>
            </a:r>
          </a:p>
        </p:txBody>
      </p:sp>
      <p:sp>
        <p:nvSpPr>
          <p:cNvPr id="166" name="Google Shape;168;p6"/>
          <p:cNvSpPr txBox="1"/>
          <p:nvPr/>
        </p:nvSpPr>
        <p:spPr>
          <a:xfrm>
            <a:off x="3447288" y="1609344"/>
            <a:ext cx="12801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900">
                <a:solidFill>
                  <a:srgbClr val="F28C28"/>
                </a:solidFill>
              </a:defRPr>
            </a:lvl1pPr>
          </a:lstStyle>
          <a:p>
            <a:pPr/>
            <a:r>
              <a:t>[Role in team]</a:t>
            </a:r>
          </a:p>
        </p:txBody>
      </p:sp>
      <p:sp>
        <p:nvSpPr>
          <p:cNvPr id="167" name="Google Shape;169;p6"/>
          <p:cNvSpPr txBox="1"/>
          <p:nvPr/>
        </p:nvSpPr>
        <p:spPr>
          <a:xfrm>
            <a:off x="3447288" y="1828800"/>
            <a:ext cx="1280161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800">
                <a:solidFill>
                  <a:srgbClr val="C9D2EC"/>
                </a:solidFill>
              </a:defRPr>
            </a:lvl1pPr>
          </a:lstStyle>
          <a:p>
            <a:pPr/>
            <a:r>
              <a:t>[Qualification / expertise]</a:t>
            </a:r>
          </a:p>
        </p:txBody>
      </p:sp>
      <p:sp>
        <p:nvSpPr>
          <p:cNvPr id="168" name="Google Shape;170;p6"/>
          <p:cNvSpPr/>
          <p:nvPr/>
        </p:nvSpPr>
        <p:spPr>
          <a:xfrm>
            <a:off x="457200" y="2468879"/>
            <a:ext cx="2103121" cy="1143001"/>
          </a:xfrm>
          <a:prstGeom prst="roundRect">
            <a:avLst>
              <a:gd name="adj" fmla="val 6400"/>
            </a:avLst>
          </a:prstGeom>
          <a:solidFill>
            <a:srgbClr val="253870"/>
          </a:solidFill>
          <a:ln w="12700">
            <a:solidFill>
              <a:srgbClr val="253870"/>
            </a:solidFill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9" name="Google Shape;171;p6"/>
          <p:cNvSpPr/>
          <p:nvPr/>
        </p:nvSpPr>
        <p:spPr>
          <a:xfrm>
            <a:off x="594359" y="2651760"/>
            <a:ext cx="502922" cy="502921"/>
          </a:xfrm>
          <a:prstGeom prst="ellipse">
            <a:avLst/>
          </a:prstGeom>
          <a:solidFill>
            <a:srgbClr val="3A4C85"/>
          </a:solidFill>
          <a:ln w="12700">
            <a:solidFill>
              <a:srgbClr val="F28C28"/>
            </a:solidFill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0" name="Google Shape;172;p6"/>
          <p:cNvSpPr txBox="1"/>
          <p:nvPr/>
        </p:nvSpPr>
        <p:spPr>
          <a:xfrm>
            <a:off x="594359" y="2839719"/>
            <a:ext cx="5029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700">
                <a:solidFill>
                  <a:srgbClr val="C9D2EC"/>
                </a:solidFill>
              </a:defRPr>
            </a:lvl1pPr>
          </a:lstStyle>
          <a:p>
            <a:pPr/>
            <a:r>
              <a:t>Photo</a:t>
            </a:r>
          </a:p>
        </p:txBody>
      </p:sp>
      <p:sp>
        <p:nvSpPr>
          <p:cNvPr id="171" name="Google Shape;173;p6"/>
          <p:cNvSpPr txBox="1"/>
          <p:nvPr/>
        </p:nvSpPr>
        <p:spPr>
          <a:xfrm>
            <a:off x="1207008" y="2633472"/>
            <a:ext cx="128016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[Name 3]</a:t>
            </a:r>
          </a:p>
        </p:txBody>
      </p:sp>
      <p:sp>
        <p:nvSpPr>
          <p:cNvPr id="172" name="Google Shape;174;p6"/>
          <p:cNvSpPr txBox="1"/>
          <p:nvPr/>
        </p:nvSpPr>
        <p:spPr>
          <a:xfrm>
            <a:off x="1207008" y="2889504"/>
            <a:ext cx="12801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900">
                <a:solidFill>
                  <a:srgbClr val="F28C28"/>
                </a:solidFill>
              </a:defRPr>
            </a:lvl1pPr>
          </a:lstStyle>
          <a:p>
            <a:pPr/>
            <a:r>
              <a:t>[Role in team]</a:t>
            </a:r>
          </a:p>
        </p:txBody>
      </p:sp>
      <p:sp>
        <p:nvSpPr>
          <p:cNvPr id="173" name="Google Shape;175;p6"/>
          <p:cNvSpPr txBox="1"/>
          <p:nvPr/>
        </p:nvSpPr>
        <p:spPr>
          <a:xfrm>
            <a:off x="1207008" y="3108960"/>
            <a:ext cx="12801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800">
                <a:solidFill>
                  <a:srgbClr val="C9D2EC"/>
                </a:solidFill>
              </a:defRPr>
            </a:lvl1pPr>
          </a:lstStyle>
          <a:p>
            <a:pPr/>
            <a:r>
              <a:t>[Qualification / expertise]</a:t>
            </a:r>
          </a:p>
        </p:txBody>
      </p:sp>
      <p:sp>
        <p:nvSpPr>
          <p:cNvPr id="174" name="Google Shape;176;p6"/>
          <p:cNvSpPr/>
          <p:nvPr/>
        </p:nvSpPr>
        <p:spPr>
          <a:xfrm>
            <a:off x="2697479" y="2468879"/>
            <a:ext cx="2103121" cy="1143001"/>
          </a:xfrm>
          <a:prstGeom prst="roundRect">
            <a:avLst>
              <a:gd name="adj" fmla="val 6400"/>
            </a:avLst>
          </a:prstGeom>
          <a:solidFill>
            <a:srgbClr val="253870"/>
          </a:solidFill>
          <a:ln w="12700">
            <a:solidFill>
              <a:srgbClr val="253870"/>
            </a:solidFill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5" name="Google Shape;177;p6"/>
          <p:cNvSpPr/>
          <p:nvPr/>
        </p:nvSpPr>
        <p:spPr>
          <a:xfrm>
            <a:off x="2834639" y="2651760"/>
            <a:ext cx="502921" cy="502921"/>
          </a:xfrm>
          <a:prstGeom prst="ellipse">
            <a:avLst/>
          </a:prstGeom>
          <a:solidFill>
            <a:srgbClr val="3A4C85"/>
          </a:solidFill>
          <a:ln w="12700">
            <a:solidFill>
              <a:srgbClr val="F28C28"/>
            </a:solidFill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6" name="Google Shape;178;p6"/>
          <p:cNvSpPr txBox="1"/>
          <p:nvPr/>
        </p:nvSpPr>
        <p:spPr>
          <a:xfrm>
            <a:off x="2834639" y="2839719"/>
            <a:ext cx="50292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700">
                <a:solidFill>
                  <a:srgbClr val="C9D2EC"/>
                </a:solidFill>
              </a:defRPr>
            </a:lvl1pPr>
          </a:lstStyle>
          <a:p>
            <a:pPr/>
            <a:r>
              <a:t>Photo</a:t>
            </a:r>
          </a:p>
        </p:txBody>
      </p:sp>
      <p:sp>
        <p:nvSpPr>
          <p:cNvPr id="177" name="Google Shape;179;p6"/>
          <p:cNvSpPr txBox="1"/>
          <p:nvPr/>
        </p:nvSpPr>
        <p:spPr>
          <a:xfrm>
            <a:off x="3447288" y="2633472"/>
            <a:ext cx="128016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[Name 4]</a:t>
            </a:r>
          </a:p>
        </p:txBody>
      </p:sp>
      <p:sp>
        <p:nvSpPr>
          <p:cNvPr id="178" name="Google Shape;180;p6"/>
          <p:cNvSpPr txBox="1"/>
          <p:nvPr/>
        </p:nvSpPr>
        <p:spPr>
          <a:xfrm>
            <a:off x="3447288" y="2889504"/>
            <a:ext cx="12801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900">
                <a:solidFill>
                  <a:srgbClr val="F28C28"/>
                </a:solidFill>
              </a:defRPr>
            </a:lvl1pPr>
          </a:lstStyle>
          <a:p>
            <a:pPr/>
            <a:r>
              <a:t>[Role in team]</a:t>
            </a:r>
          </a:p>
        </p:txBody>
      </p:sp>
      <p:sp>
        <p:nvSpPr>
          <p:cNvPr id="179" name="Google Shape;181;p6"/>
          <p:cNvSpPr txBox="1"/>
          <p:nvPr/>
        </p:nvSpPr>
        <p:spPr>
          <a:xfrm>
            <a:off x="3447288" y="3108960"/>
            <a:ext cx="12801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800">
                <a:solidFill>
                  <a:srgbClr val="C9D2EC"/>
                </a:solidFill>
              </a:defRPr>
            </a:lvl1pPr>
          </a:lstStyle>
          <a:p>
            <a:pPr/>
            <a:r>
              <a:t>[Qualification / expertise]</a:t>
            </a:r>
          </a:p>
        </p:txBody>
      </p:sp>
      <p:sp>
        <p:nvSpPr>
          <p:cNvPr id="180" name="Google Shape;182;p6"/>
          <p:cNvSpPr txBox="1"/>
          <p:nvPr/>
        </p:nvSpPr>
        <p:spPr>
          <a:xfrm>
            <a:off x="457199" y="3840479"/>
            <a:ext cx="43891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900">
                <a:solidFill>
                  <a:srgbClr val="C9D2EC"/>
                </a:solidFill>
              </a:defRPr>
            </a:lvl1pPr>
          </a:lstStyle>
          <a:p>
            <a:pPr/>
            <a:r>
              <a:t>[Mentor / faculty guide, if any: Name, designation]</a:t>
            </a:r>
          </a:p>
        </p:txBody>
      </p:sp>
      <p:sp>
        <p:nvSpPr>
          <p:cNvPr id="181" name="Google Shape;183;p6"/>
          <p:cNvSpPr/>
          <p:nvPr/>
        </p:nvSpPr>
        <p:spPr>
          <a:xfrm>
            <a:off x="5120640" y="1188719"/>
            <a:ext cx="3566160" cy="3383281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2" name="Google Shape;184;p6"/>
          <p:cNvSpPr txBox="1"/>
          <p:nvPr/>
        </p:nvSpPr>
        <p:spPr>
          <a:xfrm>
            <a:off x="5303520" y="1325880"/>
            <a:ext cx="3200401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1B2A5C"/>
                </a:solidFill>
              </a:defRPr>
            </a:lvl1pPr>
          </a:lstStyle>
          <a:p>
            <a:pPr/>
            <a:r>
              <a:t>Support we are seeking</a:t>
            </a:r>
          </a:p>
        </p:txBody>
      </p:sp>
      <p:sp>
        <p:nvSpPr>
          <p:cNvPr id="183" name="Google Shape;185;p6"/>
          <p:cNvSpPr/>
          <p:nvPr/>
        </p:nvSpPr>
        <p:spPr>
          <a:xfrm>
            <a:off x="5349240" y="1764792"/>
            <a:ext cx="182881" cy="182881"/>
          </a:xfrm>
          <a:prstGeom prst="rect">
            <a:avLst/>
          </a:prstGeom>
          <a:solidFill>
            <a:srgbClr val="FFFFFF"/>
          </a:solidFill>
          <a:ln w="15875">
            <a:solidFill>
              <a:srgbClr val="F28C28"/>
            </a:solidFill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4" name="Google Shape;186;p6"/>
          <p:cNvSpPr txBox="1"/>
          <p:nvPr/>
        </p:nvSpPr>
        <p:spPr>
          <a:xfrm>
            <a:off x="5669279" y="1737360"/>
            <a:ext cx="2926082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1F2937"/>
                </a:solidFill>
              </a:defRPr>
            </a:lvl1pPr>
          </a:lstStyle>
          <a:p>
            <a:pPr/>
            <a:r>
              <a:t>Mentorship &amp; technical guidance</a:t>
            </a:r>
          </a:p>
        </p:txBody>
      </p:sp>
      <p:sp>
        <p:nvSpPr>
          <p:cNvPr id="185" name="Google Shape;187;p6"/>
          <p:cNvSpPr/>
          <p:nvPr/>
        </p:nvSpPr>
        <p:spPr>
          <a:xfrm>
            <a:off x="5349240" y="2148839"/>
            <a:ext cx="182881" cy="182881"/>
          </a:xfrm>
          <a:prstGeom prst="rect">
            <a:avLst/>
          </a:prstGeom>
          <a:solidFill>
            <a:srgbClr val="FFFFFF"/>
          </a:solidFill>
          <a:ln w="15875">
            <a:solidFill>
              <a:srgbClr val="F28C28"/>
            </a:solidFill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6" name="Google Shape;188;p6"/>
          <p:cNvSpPr txBox="1"/>
          <p:nvPr/>
        </p:nvSpPr>
        <p:spPr>
          <a:xfrm>
            <a:off x="5669279" y="2121407"/>
            <a:ext cx="2926082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1F2937"/>
                </a:solidFill>
              </a:defRPr>
            </a:lvl1pPr>
          </a:lstStyle>
          <a:p>
            <a:pPr/>
            <a:r>
              <a:t>Pilot with a government department</a:t>
            </a:r>
          </a:p>
        </p:txBody>
      </p:sp>
      <p:sp>
        <p:nvSpPr>
          <p:cNvPr id="187" name="Google Shape;189;p6"/>
          <p:cNvSpPr/>
          <p:nvPr/>
        </p:nvSpPr>
        <p:spPr>
          <a:xfrm>
            <a:off x="5349240" y="2532888"/>
            <a:ext cx="182881" cy="182881"/>
          </a:xfrm>
          <a:prstGeom prst="rect">
            <a:avLst/>
          </a:prstGeom>
          <a:solidFill>
            <a:srgbClr val="FFFFFF"/>
          </a:solidFill>
          <a:ln w="15875">
            <a:solidFill>
              <a:srgbClr val="F28C28"/>
            </a:solidFill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8" name="Google Shape;190;p6"/>
          <p:cNvSpPr txBox="1"/>
          <p:nvPr/>
        </p:nvSpPr>
        <p:spPr>
          <a:xfrm>
            <a:off x="5669279" y="2505455"/>
            <a:ext cx="2926082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1F2937"/>
                </a:solidFill>
              </a:defRPr>
            </a:lvl1pPr>
          </a:lstStyle>
          <a:p>
            <a:pPr/>
            <a:r>
              <a:t>Funding / grant support</a:t>
            </a:r>
          </a:p>
        </p:txBody>
      </p:sp>
      <p:sp>
        <p:nvSpPr>
          <p:cNvPr id="189" name="Google Shape;191;p6"/>
          <p:cNvSpPr/>
          <p:nvPr/>
        </p:nvSpPr>
        <p:spPr>
          <a:xfrm>
            <a:off x="5349240" y="2916935"/>
            <a:ext cx="182881" cy="182881"/>
          </a:xfrm>
          <a:prstGeom prst="rect">
            <a:avLst/>
          </a:prstGeom>
          <a:solidFill>
            <a:srgbClr val="FFFFFF"/>
          </a:solidFill>
          <a:ln w="15875">
            <a:solidFill>
              <a:srgbClr val="F28C28"/>
            </a:solidFill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0" name="Google Shape;192;p6"/>
          <p:cNvSpPr txBox="1"/>
          <p:nvPr/>
        </p:nvSpPr>
        <p:spPr>
          <a:xfrm>
            <a:off x="5669279" y="2889504"/>
            <a:ext cx="2926082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1F2937"/>
                </a:solidFill>
              </a:defRPr>
            </a:lvl1pPr>
          </a:lstStyle>
          <a:p>
            <a:pPr/>
            <a:r>
              <a:t>Incubation &amp; workspace</a:t>
            </a:r>
          </a:p>
        </p:txBody>
      </p:sp>
      <p:sp>
        <p:nvSpPr>
          <p:cNvPr id="191" name="Google Shape;193;p6"/>
          <p:cNvSpPr/>
          <p:nvPr/>
        </p:nvSpPr>
        <p:spPr>
          <a:xfrm>
            <a:off x="5349240" y="3300984"/>
            <a:ext cx="182881" cy="182881"/>
          </a:xfrm>
          <a:prstGeom prst="rect">
            <a:avLst/>
          </a:prstGeom>
          <a:solidFill>
            <a:srgbClr val="FFFFFF"/>
          </a:solidFill>
          <a:ln w="15875">
            <a:solidFill>
              <a:srgbClr val="F28C28"/>
            </a:solidFill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2" name="Google Shape;194;p6"/>
          <p:cNvSpPr txBox="1"/>
          <p:nvPr/>
        </p:nvSpPr>
        <p:spPr>
          <a:xfrm>
            <a:off x="5669279" y="3273552"/>
            <a:ext cx="2926082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1F2937"/>
                </a:solidFill>
              </a:defRPr>
            </a:lvl1pPr>
          </a:lstStyle>
          <a:p>
            <a:pPr/>
            <a:r>
              <a:t>Testing, certification or IP support</a:t>
            </a:r>
          </a:p>
        </p:txBody>
      </p:sp>
      <p:sp>
        <p:nvSpPr>
          <p:cNvPr id="193" name="Google Shape;195;p6"/>
          <p:cNvSpPr txBox="1"/>
          <p:nvPr/>
        </p:nvSpPr>
        <p:spPr>
          <a:xfrm>
            <a:off x="5303520" y="3703320"/>
            <a:ext cx="3200401" cy="250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900">
                <a:solidFill>
                  <a:srgbClr val="6B7280"/>
                </a:solidFill>
              </a:defRPr>
            </a:lvl1pPr>
          </a:lstStyle>
          <a:p>
            <a:pPr/>
            <a:r>
              <a:t>[In one line, how the Challenge support will take your solution to the next stage.]</a:t>
            </a:r>
          </a:p>
        </p:txBody>
      </p:sp>
      <p:sp>
        <p:nvSpPr>
          <p:cNvPr id="194" name="Google Shape;196;p6"/>
          <p:cNvSpPr txBox="1"/>
          <p:nvPr/>
        </p:nvSpPr>
        <p:spPr>
          <a:xfrm>
            <a:off x="457199" y="4343400"/>
            <a:ext cx="4389122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28C28"/>
                </a:solidFill>
              </a:defRPr>
            </a:lvl1pPr>
          </a:lstStyle>
          <a:p>
            <a:pPr/>
            <a:r>
              <a:t>Thank you  |  [Contact email / mobile]</a:t>
            </a:r>
          </a:p>
        </p:txBody>
      </p:sp>
      <p:sp>
        <p:nvSpPr>
          <p:cNvPr id="195" name="Google Shape;197;p6"/>
          <p:cNvSpPr txBox="1"/>
          <p:nvPr/>
        </p:nvSpPr>
        <p:spPr>
          <a:xfrm>
            <a:off x="5486400" y="4846320"/>
            <a:ext cx="32004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800">
                <a:solidFill>
                  <a:srgbClr val="C9D2EC"/>
                </a:solidFill>
              </a:defRPr>
            </a:lvl1pPr>
          </a:lstStyle>
          <a:p>
            <a:pPr/>
            <a:r>
              <a:t>Seva Innovation Challenge 2026  |  Slide 6 of 6</a:t>
            </a:r>
          </a:p>
        </p:txBody>
      </p:sp>
      <p:pic>
        <p:nvPicPr>
          <p:cNvPr id="196" name="atlas-sleep.jpgGoogle Shape;198;p6" descr="atlas-sleep.jpgGoogle Shape;198;p6"/>
          <p:cNvPicPr>
            <a:picLocks noChangeAspect="1"/>
          </p:cNvPicPr>
          <p:nvPr/>
        </p:nvPicPr>
        <p:blipFill>
          <a:blip r:embed="rId3">
            <a:extLst/>
          </a:blip>
          <a:srcRect l="516" t="2144" r="74080" b="2135"/>
          <a:stretch>
            <a:fillRect/>
          </a:stretch>
        </p:blipFill>
        <p:spPr>
          <a:xfrm>
            <a:off x="7429296" y="301737"/>
            <a:ext cx="1166050" cy="53630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